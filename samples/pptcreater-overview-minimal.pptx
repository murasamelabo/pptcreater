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6"/>
  </p:notesMasterIdLst>
  <p:sldIdLst>
    <p:sldId id="256" r:id="rId2"/>
    <p:sldId id="257" r:id="rId3"/>
    <p:sldId id="258" r:id="rId4"/>
    <p:sldId id="259" r:id="rId5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notesMaster" Target="notesMasters/notes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目的: このpptcreaterツールの価値と使い方を説明し、導入判断につなげる。聴衆: GitHub CopilotやClaude Codeを使う開発者・デザイナー・企画担当。意思決定向けに論点と次アクションを明確化しています。
Slide 1: 3秒で要点が伝わるスライドを標準化する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目的と聴衆を確認し、構成・可視化・検証へ進めます。
Slide 2: ヒアリングから可視化までを1つの流れにする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カード・テキストは編集可能なPowerPointオブジェクトです。
Slide 3: スライドは装飾ではなく情報UIとして設計する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presentation / report / technical で見た目が切り替わります。
Slide 4: 用途別スタイル選定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svg"/><Relationship Id="rId3" Type="http://schemas.openxmlformats.org/officeDocument/2006/relationships/image" Target="../media/image-1-3.png"/><Relationship Id="rId4" Type="http://schemas.openxmlformats.org/officeDocument/2006/relationships/image" Target="../media/image-1-4.sv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svg"/><Relationship Id="rId3" Type="http://schemas.openxmlformats.org/officeDocument/2006/relationships/image" Target="../media/image-2-3.png"/><Relationship Id="rId4" Type="http://schemas.openxmlformats.org/officeDocument/2006/relationships/image" Target="../media/image-2-4.svg"/><Relationship Id="rId5" Type="http://schemas.openxmlformats.org/officeDocument/2006/relationships/image" Target="../media/image-2-5.png"/><Relationship Id="rId6" Type="http://schemas.openxmlformats.org/officeDocument/2006/relationships/image" Target="../media/image-2-6.svg"/><Relationship Id="rId7" Type="http://schemas.openxmlformats.org/officeDocument/2006/relationships/image" Target="../media/image-2-7.png"/><Relationship Id="rId8" Type="http://schemas.openxmlformats.org/officeDocument/2006/relationships/image" Target="../media/image-2-8.svg"/><Relationship Id="rId9" Type="http://schemas.openxmlformats.org/officeDocument/2006/relationships/image" Target="../media/image-2-9.png"/><Relationship Id="rId10" Type="http://schemas.openxmlformats.org/officeDocument/2006/relationships/image" Target="../media/image-2-10.svg"/><Relationship Id="rId11" Type="http://schemas.openxmlformats.org/officeDocument/2006/relationships/image" Target="../media/image-2-11.png"/><Relationship Id="rId12" Type="http://schemas.openxmlformats.org/officeDocument/2006/relationships/image" Target="../media/image-2-12.sv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svg"/><Relationship Id="rId3" Type="http://schemas.openxmlformats.org/officeDocument/2006/relationships/image" Target="../media/image-3-3.png"/><Relationship Id="rId4" Type="http://schemas.openxmlformats.org/officeDocument/2006/relationships/image" Target="../media/image-3-4.svg"/><Relationship Id="rId5" Type="http://schemas.openxmlformats.org/officeDocument/2006/relationships/image" Target="../media/image-3-5.png"/><Relationship Id="rId6" Type="http://schemas.openxmlformats.org/officeDocument/2006/relationships/image" Target="../media/image-3-6.svg"/><Relationship Id="rId7" Type="http://schemas.openxmlformats.org/officeDocument/2006/relationships/image" Target="../media/image-3-7.png"/><Relationship Id="rId8" Type="http://schemas.openxmlformats.org/officeDocument/2006/relationships/image" Target="../media/image-3-8.sv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svg"/><Relationship Id="rId3" Type="http://schemas.openxmlformats.org/officeDocument/2006/relationships/image" Target="../media/image-4-3.png"/><Relationship Id="rId4" Type="http://schemas.openxmlformats.org/officeDocument/2006/relationships/image" Target="../media/image-4-4.sv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Decorative s1-hero-band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310896" cy="6858000"/>
          </a:xfrm>
          <a:prstGeom prst="rect">
            <a:avLst/>
          </a:prstGeom>
          <a:solidFill>
            <a:srgbClr val="315F9F"/>
          </a:solidFill>
          <a:ln w="1270">
            <a:solidFill>
              <a:srgbClr val="315F9F"/>
            </a:solidFill>
            <a:prstDash val="solid"/>
          </a:ln>
        </p:spPr>
      </p:sp>
      <p:sp>
        <p:nvSpPr>
          <p:cNvPr id="4" name="Decorative s1-hero-panel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7040880" y="914400"/>
            <a:ext cx="4480560" cy="4846320"/>
          </a:xfrm>
          <a:prstGeom prst="roundRect">
            <a:avLst/>
          </a:prstGeom>
          <a:solidFill>
            <a:srgbClr val="F6F5F2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5" name="Decorative s1-hero-panel-accent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7406640" y="1371600"/>
            <a:ext cx="1463040" cy="201168"/>
          </a:xfrm>
          <a:prstGeom prst="roundRect">
            <a:avLst/>
          </a:prstGeom>
          <a:solidFill>
            <a:srgbClr val="315F9F"/>
          </a:solidFill>
          <a:ln w="1270">
            <a:solidFill>
              <a:srgbClr val="315F9F"/>
            </a:solidFill>
            <a:prstDash val="solid"/>
          </a:ln>
        </p:spPr>
      </p:sp>
      <p:pic>
        <p:nvPicPr>
          <p:cNvPr id="6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515600" y="1783080"/>
            <a:ext cx="548640" cy="548640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731520" y="713232"/>
            <a:ext cx="5669280" cy="3657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400" dirty="0">
                <a:solidFill>
                  <a:srgbClr val="315F9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PPTCREATER DECK</a:t>
            </a:r>
            <a:endParaRPr lang="en-US" sz="1400" dirty="0"/>
          </a:p>
        </p:txBody>
      </p:sp>
      <p:sp>
        <p:nvSpPr>
          <p:cNvPr id="8" name="Text 4"/>
          <p:cNvSpPr/>
          <p:nvPr/>
        </p:nvSpPr>
        <p:spPr>
          <a:xfrm>
            <a:off x="731520" y="1234440"/>
            <a:ext cx="5943600" cy="21031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3800" b="1" spc="-40" kern="0" dirty="0">
                <a:solidFill>
                  <a:srgbClr val="1F2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3秒で要点が伝わる</a:t>
            </a:r>
            <a:endParaRPr lang="en-US" sz="3800" dirty="0"/>
          </a:p>
          <a:p>
            <a:pPr algn="l" indent="0" marL="0">
              <a:buNone/>
            </a:pPr>
            <a:r>
              <a:rPr lang="en-US" sz="3800" b="1" spc="-40" kern="0" dirty="0">
                <a:solidFill>
                  <a:srgbClr val="1F2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スライドを標準化する</a:t>
            </a:r>
            <a:endParaRPr lang="en-US" sz="3800" dirty="0"/>
          </a:p>
        </p:txBody>
      </p:sp>
      <p:sp>
        <p:nvSpPr>
          <p:cNvPr id="9" name="Text 5"/>
          <p:cNvSpPr/>
          <p:nvPr/>
        </p:nvSpPr>
        <p:spPr>
          <a:xfrm>
            <a:off x="731520" y="3611880"/>
            <a:ext cx="5852160" cy="12801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2100" dirty="0">
                <a:solidFill>
                  <a:srgbClr val="59636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用途・聴衆・ボリュームを先に固定</a:t>
            </a:r>
            <a:endParaRPr lang="en-US" sz="2100" dirty="0"/>
          </a:p>
          <a:p>
            <a:pPr algn="l" indent="0" marL="0">
              <a:buNone/>
            </a:pPr>
            <a:r>
              <a:rPr lang="en-US" sz="2100" dirty="0">
                <a:solidFill>
                  <a:srgbClr val="59636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し、編集可能な図形で表現します。</a:t>
            </a:r>
            <a:endParaRPr lang="en-US" sz="2100" dirty="0"/>
          </a:p>
        </p:txBody>
      </p:sp>
      <p:sp>
        <p:nvSpPr>
          <p:cNvPr id="10" name="Text 6"/>
          <p:cNvSpPr/>
          <p:nvPr/>
        </p:nvSpPr>
        <p:spPr>
          <a:xfrm>
            <a:off x="731520" y="5212080"/>
            <a:ext cx="6044184" cy="5486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300" dirty="0">
                <a:solidFill>
                  <a:srgbClr val="59636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対象: GitHub CopilotやClaude Codeを使う開発者・デザイナー・企画担当</a:t>
            </a:r>
            <a:endParaRPr lang="en-US" sz="1300" dirty="0"/>
          </a:p>
        </p:txBody>
      </p:sp>
      <p:sp>
        <p:nvSpPr>
          <p:cNvPr id="11" name="Text 7"/>
          <p:cNvSpPr/>
          <p:nvPr/>
        </p:nvSpPr>
        <p:spPr>
          <a:xfrm>
            <a:off x="7406640" y="1783080"/>
            <a:ext cx="2926080" cy="5486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2000" b="1" spc="-40" kern="0" dirty="0">
                <a:solidFill>
                  <a:srgbClr val="1F2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このデッキの読み方</a:t>
            </a:r>
            <a:endParaRPr lang="en-US" sz="2000" dirty="0"/>
          </a:p>
        </p:txBody>
      </p:sp>
      <p:sp>
        <p:nvSpPr>
          <p:cNvPr id="12" name="Text 8"/>
          <p:cNvSpPr/>
          <p:nvPr/>
        </p:nvSpPr>
        <p:spPr>
          <a:xfrm>
            <a:off x="7406640" y="2468880"/>
            <a:ext cx="3749040" cy="29260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2200" dirty="0">
                <a:solidFill>
                  <a:srgbClr val="59636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各スライドは1メッセージ。</a:t>
            </a:r>
            <a:endParaRPr lang="en-US" sz="2200" dirty="0"/>
          </a:p>
          <a:p>
            <a:pPr algn="l" indent="0" marL="0">
              <a:buNone/>
            </a:pPr>
            <a:r>
              <a:rPr lang="en-US" sz="2200" dirty="0">
                <a:solidFill>
                  <a:srgbClr val="59636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図やカードは編集可能な</a:t>
            </a:r>
            <a:endParaRPr lang="en-US" sz="2200" dirty="0"/>
          </a:p>
          <a:p>
            <a:pPr algn="l" indent="0" marL="0">
              <a:buNone/>
            </a:pPr>
            <a:r>
              <a:rPr lang="en-US" sz="2200" dirty="0">
                <a:solidFill>
                  <a:srgbClr val="59636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PowerPointオブジェクト</a:t>
            </a:r>
            <a:endParaRPr lang="en-US" sz="2200" dirty="0"/>
          </a:p>
          <a:p>
            <a:pPr algn="l" indent="0" marL="0">
              <a:buNone/>
            </a:pPr>
            <a:r>
              <a:rPr lang="en-US" sz="2200" dirty="0">
                <a:solidFill>
                  <a:srgbClr val="59636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です。</a:t>
            </a:r>
            <a:endParaRPr lang="en-US" sz="2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Decorative s2-track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1097280" y="3108960"/>
            <a:ext cx="10058400" cy="0"/>
          </a:xfrm>
          <a:prstGeom prst="line">
            <a:avLst/>
          </a:prstGeom>
          <a:ln w="38100">
            <a:solidFill>
              <a:srgbClr val="CBD5E1"/>
            </a:solidFill>
            <a:prstDash val="solid"/>
          </a:ln>
        </p:spPr>
      </p:sp>
      <p:sp>
        <p:nvSpPr>
          <p:cNvPr id="4" name="Decorative s2-node-0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1463040" y="2697480"/>
            <a:ext cx="822960" cy="822960"/>
          </a:xfrm>
          <a:prstGeom prst="ellipse">
            <a:avLst/>
          </a:prstGeom>
          <a:solidFill>
            <a:srgbClr val="315F9F"/>
          </a:solidFill>
          <a:ln w="1270">
            <a:solidFill>
              <a:srgbClr val="315F9F"/>
            </a:solidFill>
            <a:prstDash val="solid"/>
          </a:ln>
        </p:spPr>
      </p:sp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709928" y="2944368"/>
            <a:ext cx="329184" cy="329184"/>
          </a:xfrm>
          <a:prstGeom prst="rect">
            <a:avLst/>
          </a:prstGeom>
        </p:spPr>
      </p:pic>
      <p:sp>
        <p:nvSpPr>
          <p:cNvPr id="6" name="Decorative s2-node-1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3589020" y="2697480"/>
            <a:ext cx="822960" cy="822960"/>
          </a:xfrm>
          <a:prstGeom prst="ellipse">
            <a:avLst/>
          </a:prstGeom>
          <a:solidFill>
            <a:srgbClr val="315F9F"/>
          </a:solidFill>
          <a:ln w="1270">
            <a:solidFill>
              <a:srgbClr val="315F9F"/>
            </a:solidFill>
            <a:prstDash val="solid"/>
          </a:ln>
        </p:spPr>
      </p:sp>
      <p:pic>
        <p:nvPicPr>
          <p:cNvPr id="7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3835908" y="2944368"/>
            <a:ext cx="329184" cy="329184"/>
          </a:xfrm>
          <a:prstGeom prst="rect">
            <a:avLst/>
          </a:prstGeom>
        </p:spPr>
      </p:pic>
      <p:sp>
        <p:nvSpPr>
          <p:cNvPr id="8" name="Decorative s2-node-2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5715000" y="2697480"/>
            <a:ext cx="822960" cy="822960"/>
          </a:xfrm>
          <a:prstGeom prst="ellipse">
            <a:avLst/>
          </a:prstGeom>
          <a:solidFill>
            <a:srgbClr val="315F9F"/>
          </a:solidFill>
          <a:ln w="1270">
            <a:solidFill>
              <a:srgbClr val="315F9F"/>
            </a:solidFill>
            <a:prstDash val="solid"/>
          </a:ln>
        </p:spPr>
      </p:sp>
      <p:pic>
        <p:nvPicPr>
          <p:cNvPr id="9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5961888" y="2944368"/>
            <a:ext cx="329184" cy="329184"/>
          </a:xfrm>
          <a:prstGeom prst="rect">
            <a:avLst/>
          </a:prstGeom>
        </p:spPr>
      </p:pic>
      <p:sp>
        <p:nvSpPr>
          <p:cNvPr id="10" name="Decorative s2-node-3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7840980" y="2697480"/>
            <a:ext cx="822960" cy="822960"/>
          </a:xfrm>
          <a:prstGeom prst="ellipse">
            <a:avLst/>
          </a:prstGeom>
          <a:solidFill>
            <a:srgbClr val="315F9F"/>
          </a:solidFill>
          <a:ln w="1270">
            <a:solidFill>
              <a:srgbClr val="315F9F"/>
            </a:solidFill>
            <a:prstDash val="solid"/>
          </a:ln>
        </p:spPr>
      </p:sp>
      <p:pic>
        <p:nvPicPr>
          <p:cNvPr id="11" name="Image 4" descr="preencoded.png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8087868" y="2944368"/>
            <a:ext cx="329184" cy="329184"/>
          </a:xfrm>
          <a:prstGeom prst="rect">
            <a:avLst/>
          </a:prstGeom>
        </p:spPr>
      </p:pic>
      <p:sp>
        <p:nvSpPr>
          <p:cNvPr id="12" name="Decorative s2-node-4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9966960" y="2697480"/>
            <a:ext cx="822960" cy="822960"/>
          </a:xfrm>
          <a:prstGeom prst="ellipse">
            <a:avLst/>
          </a:prstGeom>
          <a:solidFill>
            <a:srgbClr val="315F9F"/>
          </a:solidFill>
          <a:ln w="1270">
            <a:solidFill>
              <a:srgbClr val="315F9F"/>
            </a:solidFill>
            <a:prstDash val="solid"/>
          </a:ln>
        </p:spPr>
      </p:sp>
      <p:pic>
        <p:nvPicPr>
          <p:cNvPr id="13" name="Image 5" descr="preencoded.png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0213848" y="2944368"/>
            <a:ext cx="329184" cy="329184"/>
          </a:xfrm>
          <a:prstGeom prst="rect">
            <a:avLst/>
          </a:prstGeom>
        </p:spPr>
      </p:pic>
      <p:sp>
        <p:nvSpPr>
          <p:cNvPr id="14" name="Text 6"/>
          <p:cNvSpPr/>
          <p:nvPr/>
        </p:nvSpPr>
        <p:spPr>
          <a:xfrm>
            <a:off x="731520" y="640080"/>
            <a:ext cx="10698480" cy="9144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3200" b="1" spc="-40" kern="0" dirty="0">
                <a:solidFill>
                  <a:srgbClr val="1F2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ヒアリングから可視化までを1つの流れにする</a:t>
            </a:r>
            <a:endParaRPr lang="en-US" sz="3200" dirty="0"/>
          </a:p>
        </p:txBody>
      </p:sp>
      <p:sp>
        <p:nvSpPr>
          <p:cNvPr id="15" name="Text 7"/>
          <p:cNvSpPr/>
          <p:nvPr/>
        </p:nvSpPr>
        <p:spPr>
          <a:xfrm>
            <a:off x="1097280" y="3657600"/>
            <a:ext cx="1554480" cy="3657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ctr" indent="0" marL="0">
              <a:buNone/>
            </a:pPr>
            <a:r>
              <a:rPr lang="en-US" sz="1400" dirty="0">
                <a:solidFill>
                  <a:srgbClr val="315F9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STEP 1</a:t>
            </a:r>
            <a:endParaRPr lang="en-US" sz="1400" dirty="0"/>
          </a:p>
        </p:txBody>
      </p:sp>
      <p:sp>
        <p:nvSpPr>
          <p:cNvPr id="16" name="Text 8"/>
          <p:cNvSpPr/>
          <p:nvPr/>
        </p:nvSpPr>
        <p:spPr>
          <a:xfrm>
            <a:off x="1097280" y="4069080"/>
            <a:ext cx="1554480" cy="6400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ctr" indent="0" marL="0">
              <a:buNone/>
            </a:pPr>
            <a:r>
              <a:rPr lang="en-US" sz="1600" dirty="0">
                <a:solidFill>
                  <a:srgbClr val="1F2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目的</a:t>
            </a:r>
            <a:endParaRPr lang="en-US" sz="1600" dirty="0"/>
          </a:p>
        </p:txBody>
      </p:sp>
      <p:sp>
        <p:nvSpPr>
          <p:cNvPr id="17" name="Text 9"/>
          <p:cNvSpPr/>
          <p:nvPr/>
        </p:nvSpPr>
        <p:spPr>
          <a:xfrm>
            <a:off x="3223260" y="3657600"/>
            <a:ext cx="1554480" cy="3657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ctr" indent="0" marL="0">
              <a:buNone/>
            </a:pPr>
            <a:r>
              <a:rPr lang="en-US" sz="1400" dirty="0">
                <a:solidFill>
                  <a:srgbClr val="315F9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STEP 2</a:t>
            </a:r>
            <a:endParaRPr lang="en-US" sz="1400" dirty="0"/>
          </a:p>
        </p:txBody>
      </p:sp>
      <p:sp>
        <p:nvSpPr>
          <p:cNvPr id="18" name="Text 10"/>
          <p:cNvSpPr/>
          <p:nvPr/>
        </p:nvSpPr>
        <p:spPr>
          <a:xfrm>
            <a:off x="3223260" y="4069080"/>
            <a:ext cx="1554480" cy="6400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ctr" indent="0" marL="0">
              <a:buNone/>
            </a:pPr>
            <a:r>
              <a:rPr lang="en-US" sz="1600" dirty="0">
                <a:solidFill>
                  <a:srgbClr val="1F2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聴衆</a:t>
            </a:r>
            <a:endParaRPr lang="en-US" sz="1600" dirty="0"/>
          </a:p>
        </p:txBody>
      </p:sp>
      <p:sp>
        <p:nvSpPr>
          <p:cNvPr id="19" name="Text 11"/>
          <p:cNvSpPr/>
          <p:nvPr/>
        </p:nvSpPr>
        <p:spPr>
          <a:xfrm>
            <a:off x="5349240" y="3657600"/>
            <a:ext cx="1554480" cy="3657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ctr" indent="0" marL="0">
              <a:buNone/>
            </a:pPr>
            <a:r>
              <a:rPr lang="en-US" sz="1400" dirty="0">
                <a:solidFill>
                  <a:srgbClr val="315F9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STEP 3</a:t>
            </a:r>
            <a:endParaRPr lang="en-US" sz="1400" dirty="0"/>
          </a:p>
        </p:txBody>
      </p:sp>
      <p:sp>
        <p:nvSpPr>
          <p:cNvPr id="20" name="Text 12"/>
          <p:cNvSpPr/>
          <p:nvPr/>
        </p:nvSpPr>
        <p:spPr>
          <a:xfrm>
            <a:off x="5349240" y="4069080"/>
            <a:ext cx="1554480" cy="6400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ctr" indent="0" marL="0">
              <a:buNone/>
            </a:pPr>
            <a:r>
              <a:rPr lang="en-US" sz="1600" dirty="0">
                <a:solidFill>
                  <a:srgbClr val="1F2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構成</a:t>
            </a:r>
            <a:endParaRPr lang="en-US" sz="1600" dirty="0"/>
          </a:p>
        </p:txBody>
      </p:sp>
      <p:sp>
        <p:nvSpPr>
          <p:cNvPr id="21" name="Text 13"/>
          <p:cNvSpPr/>
          <p:nvPr/>
        </p:nvSpPr>
        <p:spPr>
          <a:xfrm>
            <a:off x="7475220" y="3657600"/>
            <a:ext cx="1554480" cy="3657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ctr" indent="0" marL="0">
              <a:buNone/>
            </a:pPr>
            <a:r>
              <a:rPr lang="en-US" sz="1400" dirty="0">
                <a:solidFill>
                  <a:srgbClr val="315F9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STEP 4</a:t>
            </a:r>
            <a:endParaRPr lang="en-US" sz="1400" dirty="0"/>
          </a:p>
        </p:txBody>
      </p:sp>
      <p:sp>
        <p:nvSpPr>
          <p:cNvPr id="22" name="Text 14"/>
          <p:cNvSpPr/>
          <p:nvPr/>
        </p:nvSpPr>
        <p:spPr>
          <a:xfrm>
            <a:off x="7475220" y="4069080"/>
            <a:ext cx="1554480" cy="6400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ctr" indent="0" marL="0">
              <a:buNone/>
            </a:pPr>
            <a:r>
              <a:rPr lang="en-US" sz="1600" dirty="0">
                <a:solidFill>
                  <a:srgbClr val="1F2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可視化</a:t>
            </a:r>
            <a:endParaRPr lang="en-US" sz="1600" dirty="0"/>
          </a:p>
        </p:txBody>
      </p:sp>
      <p:sp>
        <p:nvSpPr>
          <p:cNvPr id="23" name="Text 15"/>
          <p:cNvSpPr/>
          <p:nvPr/>
        </p:nvSpPr>
        <p:spPr>
          <a:xfrm>
            <a:off x="9601200" y="3657600"/>
            <a:ext cx="1554480" cy="3657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ctr" indent="0" marL="0">
              <a:buNone/>
            </a:pPr>
            <a:r>
              <a:rPr lang="en-US" sz="1400" dirty="0">
                <a:solidFill>
                  <a:srgbClr val="315F9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STEP 5</a:t>
            </a:r>
            <a:endParaRPr lang="en-US" sz="1400" dirty="0"/>
          </a:p>
        </p:txBody>
      </p:sp>
      <p:sp>
        <p:nvSpPr>
          <p:cNvPr id="24" name="Text 16"/>
          <p:cNvSpPr/>
          <p:nvPr/>
        </p:nvSpPr>
        <p:spPr>
          <a:xfrm>
            <a:off x="9601200" y="4069080"/>
            <a:ext cx="1554480" cy="6400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ctr" indent="0" marL="0">
              <a:buNone/>
            </a:pPr>
            <a:r>
              <a:rPr lang="en-US" sz="1600" dirty="0">
                <a:solidFill>
                  <a:srgbClr val="1F2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検証</a:t>
            </a:r>
            <a:endParaRPr lang="en-US" sz="1600" dirty="0"/>
          </a:p>
        </p:txBody>
      </p:sp>
      <p:sp>
        <p:nvSpPr>
          <p:cNvPr id="25" name="Text 17"/>
          <p:cNvSpPr/>
          <p:nvPr/>
        </p:nvSpPr>
        <p:spPr>
          <a:xfrm>
            <a:off x="1097280" y="5212080"/>
            <a:ext cx="10058400" cy="9144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2200" dirty="0">
                <a:solidFill>
                  <a:srgbClr val="59636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先に聞くほど、後のスライドは短く・強く・見やすくなります。</a:t>
            </a:r>
            <a:endParaRPr lang="en-US" sz="2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Decorative s3-card-0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36422" y="1920240"/>
            <a:ext cx="3383280" cy="3383280"/>
          </a:xfrm>
          <a:prstGeom prst="roundRect">
            <a:avLst/>
          </a:prstGeom>
          <a:solidFill>
            <a:srgbClr val="F6F5F2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4" name="Decorative s3-card-accent-0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956462" y="2286000"/>
            <a:ext cx="658368" cy="658368"/>
          </a:xfrm>
          <a:prstGeom prst="roundRect">
            <a:avLst/>
          </a:prstGeom>
          <a:solidFill>
            <a:srgbClr val="315F9F"/>
          </a:solidFill>
          <a:ln w="1270">
            <a:solidFill>
              <a:srgbClr val="315F9F"/>
            </a:solidFill>
            <a:prstDash val="solid"/>
          </a:ln>
        </p:spPr>
      </p:sp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121054" y="2450592"/>
            <a:ext cx="329184" cy="329184"/>
          </a:xfrm>
          <a:prstGeom prst="rect">
            <a:avLst/>
          </a:prstGeom>
        </p:spPr>
      </p:pic>
      <p:sp>
        <p:nvSpPr>
          <p:cNvPr id="6" name="Decorative s3-card-1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4403750" y="1920240"/>
            <a:ext cx="3383280" cy="3383280"/>
          </a:xfrm>
          <a:prstGeom prst="roundRect">
            <a:avLst/>
          </a:prstGeom>
          <a:solidFill>
            <a:srgbClr val="F6F5F2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7" name="Decorative s3-card-accent-1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4723790" y="2286000"/>
            <a:ext cx="658368" cy="658368"/>
          </a:xfrm>
          <a:prstGeom prst="roundRect">
            <a:avLst/>
          </a:prstGeom>
          <a:solidFill>
            <a:srgbClr val="315F9F"/>
          </a:solidFill>
          <a:ln w="1270">
            <a:solidFill>
              <a:srgbClr val="315F9F"/>
            </a:solidFill>
            <a:prstDash val="solid"/>
          </a:ln>
        </p:spPr>
      </p:sp>
      <p:pic>
        <p:nvPicPr>
          <p:cNvPr id="8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4888382" y="2450592"/>
            <a:ext cx="329184" cy="329184"/>
          </a:xfrm>
          <a:prstGeom prst="rect">
            <a:avLst/>
          </a:prstGeom>
        </p:spPr>
      </p:pic>
      <p:sp>
        <p:nvSpPr>
          <p:cNvPr id="9" name="Decorative s3-card-2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8171078" y="1920240"/>
            <a:ext cx="3383280" cy="3383280"/>
          </a:xfrm>
          <a:prstGeom prst="roundRect">
            <a:avLst/>
          </a:prstGeom>
          <a:solidFill>
            <a:srgbClr val="F6F5F2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0" name="Decorative s3-card-accent-2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8491118" y="2286000"/>
            <a:ext cx="658368" cy="658368"/>
          </a:xfrm>
          <a:prstGeom prst="roundRect">
            <a:avLst/>
          </a:prstGeom>
          <a:solidFill>
            <a:srgbClr val="315F9F"/>
          </a:solidFill>
          <a:ln w="1270">
            <a:solidFill>
              <a:srgbClr val="315F9F"/>
            </a:solidFill>
            <a:prstDash val="solid"/>
          </a:ln>
        </p:spPr>
      </p:sp>
      <p:pic>
        <p:nvPicPr>
          <p:cNvPr id="11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8655710" y="2450592"/>
            <a:ext cx="329184" cy="329184"/>
          </a:xfrm>
          <a:prstGeom prst="rect">
            <a:avLst/>
          </a:prstGeom>
        </p:spPr>
      </p:pic>
      <p:sp>
        <p:nvSpPr>
          <p:cNvPr id="12" name="Text 6"/>
          <p:cNvSpPr/>
          <p:nvPr/>
        </p:nvSpPr>
        <p:spPr>
          <a:xfrm>
            <a:off x="731520" y="640080"/>
            <a:ext cx="10698480" cy="9144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3200" b="1" spc="-40" kern="0" dirty="0">
                <a:solidFill>
                  <a:srgbClr val="1F2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スライドは装飾ではなく情報UIとして設計する</a:t>
            </a:r>
            <a:endParaRPr lang="en-US" sz="3200" dirty="0"/>
          </a:p>
        </p:txBody>
      </p:sp>
      <p:sp>
        <p:nvSpPr>
          <p:cNvPr id="13" name="Text 7"/>
          <p:cNvSpPr/>
          <p:nvPr/>
        </p:nvSpPr>
        <p:spPr>
          <a:xfrm>
            <a:off x="1002182" y="3154680"/>
            <a:ext cx="2651760" cy="6400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2200" b="1" spc="-40" kern="0" dirty="0">
                <a:solidFill>
                  <a:srgbClr val="1F2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3秒で伝わる</a:t>
            </a:r>
            <a:endParaRPr lang="en-US" sz="2200" dirty="0"/>
          </a:p>
        </p:txBody>
      </p:sp>
      <p:sp>
        <p:nvSpPr>
          <p:cNvPr id="14" name="Text 8"/>
          <p:cNvSpPr/>
          <p:nvPr/>
        </p:nvSpPr>
        <p:spPr>
          <a:xfrm>
            <a:off x="1002182" y="3886200"/>
            <a:ext cx="2702966" cy="12801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400" dirty="0">
                <a:solidFill>
                  <a:srgbClr val="59636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結論型タイトルで要点を即伝達</a:t>
            </a:r>
            <a:endParaRPr lang="en-US" sz="1400" dirty="0"/>
          </a:p>
        </p:txBody>
      </p:sp>
      <p:sp>
        <p:nvSpPr>
          <p:cNvPr id="15" name="Text 9"/>
          <p:cNvSpPr/>
          <p:nvPr/>
        </p:nvSpPr>
        <p:spPr>
          <a:xfrm>
            <a:off x="4769510" y="3154680"/>
            <a:ext cx="2651760" cy="6400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2200" b="1" spc="-40" kern="0" dirty="0">
                <a:solidFill>
                  <a:srgbClr val="1F2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視覚階層</a:t>
            </a:r>
            <a:endParaRPr lang="en-US" sz="2200" dirty="0"/>
          </a:p>
        </p:txBody>
      </p:sp>
      <p:sp>
        <p:nvSpPr>
          <p:cNvPr id="16" name="Text 10"/>
          <p:cNvSpPr/>
          <p:nvPr/>
        </p:nvSpPr>
        <p:spPr>
          <a:xfrm>
            <a:off x="4769510" y="3886200"/>
            <a:ext cx="2702966" cy="12801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400" dirty="0">
                <a:solidFill>
                  <a:srgbClr val="59636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サイズ・余白・色で視線を設計</a:t>
            </a:r>
            <a:endParaRPr lang="en-US" sz="1400" dirty="0"/>
          </a:p>
        </p:txBody>
      </p:sp>
      <p:sp>
        <p:nvSpPr>
          <p:cNvPr id="17" name="Text 11"/>
          <p:cNvSpPr/>
          <p:nvPr/>
        </p:nvSpPr>
        <p:spPr>
          <a:xfrm>
            <a:off x="8536838" y="3154680"/>
            <a:ext cx="2651760" cy="6400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2200" b="1" spc="-40" kern="0" dirty="0">
                <a:solidFill>
                  <a:srgbClr val="1F2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アクセシブル</a:t>
            </a:r>
            <a:endParaRPr lang="en-US" sz="2200" dirty="0"/>
          </a:p>
        </p:txBody>
      </p:sp>
      <p:sp>
        <p:nvSpPr>
          <p:cNvPr id="18" name="Text 12"/>
          <p:cNvSpPr/>
          <p:nvPr/>
        </p:nvSpPr>
        <p:spPr>
          <a:xfrm>
            <a:off x="8536838" y="3886200"/>
            <a:ext cx="2651760" cy="12801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59636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コントラスト・読み</a:t>
            </a:r>
            <a:endParaRPr lang="en-US" sz="2000" dirty="0"/>
          </a:p>
          <a:p>
            <a:pPr algn="l" indent="0" marL="0">
              <a:buNone/>
            </a:pPr>
            <a:r>
              <a:rPr lang="en-US" sz="2000" dirty="0">
                <a:solidFill>
                  <a:srgbClr val="59636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順・alt textを検証</a:t>
            </a:r>
            <a:endParaRPr lang="en-US" sz="2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Decorative s4-closing-rule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914400" y="3886200"/>
            <a:ext cx="2194560" cy="73152"/>
          </a:xfrm>
          <a:prstGeom prst="rect">
            <a:avLst/>
          </a:prstGeom>
          <a:solidFill>
            <a:srgbClr val="FFFFFF"/>
          </a:solidFill>
          <a:ln w="1270">
            <a:solidFill>
              <a:srgbClr val="FFFFFF"/>
            </a:solidFill>
            <a:prstDash val="solid"/>
          </a:ln>
        </p:spPr>
      </p:sp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1371600"/>
            <a:ext cx="640080" cy="640080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914400" y="2194560"/>
            <a:ext cx="10332720" cy="1645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3800" b="1" spc="-40" kern="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用途別スタイル選定</a:t>
            </a:r>
            <a:endParaRPr lang="en-US" sz="3800" dirty="0"/>
          </a:p>
        </p:txBody>
      </p:sp>
      <p:sp>
        <p:nvSpPr>
          <p:cNvPr id="6" name="Text 2"/>
          <p:cNvSpPr/>
          <p:nvPr/>
        </p:nvSpPr>
        <p:spPr>
          <a:xfrm>
            <a:off x="914400" y="4206240"/>
            <a:ext cx="10332720" cy="1463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現在のスタイル: minimal。テンプレート: modern-simple。</a:t>
            </a:r>
            <a:endParaRPr lang="en-US" sz="2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Yu Gothi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Yu Gothi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Slide 1</vt:lpstr>
      <vt:lpstr>Slide 2</vt:lpstr>
      <vt:lpstr>Slide 3</vt:lpstr>
      <vt:lpstr>Slide 4</vt:lpstr>
    </vt:vector>
  </TitlesOfParts>
  <Company>pptcreater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デザイン品質を備えたAIスライド作成</dc:title>
  <dc:subject>デザイン品質を備えたAIスライド作成</dc:subject>
  <dc:creator>pptcreater</dc:creator>
  <cp:lastModifiedBy>pptcreater</cp:lastModifiedBy>
  <cp:revision>1</cp:revision>
  <dcterms:created xsi:type="dcterms:W3CDTF">2026-06-19T14:19:50Z</dcterms:created>
  <dcterms:modified xsi:type="dcterms:W3CDTF">2026-06-19T14:19:50Z</dcterms:modified>
</cp:coreProperties>
</file>