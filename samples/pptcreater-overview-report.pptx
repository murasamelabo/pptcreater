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Codeを使う開発者・デザイナー・企画担当。報告資料向けに要点と根拠を整理した構成です。
Slide 1: AIスライド品質標準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ヒアリングから可視化までの流れ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情報UIとしてのスライド設計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説明責任、比較、証跡、表形式の読みやすさを優先するモード向けテンプレート。
Slide 5: 表テンプレート
report-table-visual: 表 (table) report schematic template
report-table-visual long description: 主要な観点と確認事項を二列で整理し、論点の抜け漏れを減らす表形式の図解です。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説明責任、比較、証跡、表形式の読みやすさを優先するモード向けテンプレート。
Slide 6: ツリーテンプレート
report-tree-visual: ツリー (tree) report schematic template
report-tree-visual long description: 中心テーマから構成要素へ枝分かれさせ、複雑な情報を上位下位の関係で理解しやすくする図解です。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説明責任、比較、証跡、表形式の読みやすさを優先するモード向けテンプレート。
Slide 7: 横フローテンプレート
report-flow-visual: 横フロー (flow) report schematic template
report-flow-visual long description: 左から右へ進む作業や判断の流れを短いステップで示し、次の行動を迷わせない図解です。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説明責任、比較、証跡、表形式の読みやすさを優先するモード向けテンプレート。
Slide 8: 縦フローテンプレート
report-vertical-flow-visual: 縦フロー (vertical-flow) report schematic template
report-vertical-flow-visual long description: 上から下へ流れる手順、承認、エスカレーションを、読み順どおりに追える図解です。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説明責任、比較、証跡、表形式の読みやすさを優先するモード向けテンプレート。
Slide 9: サイクルテンプレート
report-cycle-visual: サイクル (cycle) report schematic template
report-cycle-visual long description: 繰り返し発生する活動を循環として示し、単発ではなく継続的に改善する関係を伝える図解です。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説明責任、比較、証跡、表形式の読みやすさを優先するモード向けテンプレート。
Slide 10: 前後比較テンプレート
report-before-after-visual: 前後比較 (before-after) report schematic template
report-before-after-visual long description: 現在の課題と改善後の状態を左右に置き、中央の遷移で変化の意味を説明する図解です。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説明責任、比較、証跡、表形式の読みやすさを優先するモード向けテンプレート。
Slide 11: マップテンプレート
report-map-visual: マップ (map) report schematic template
report-map-visual long description: 複数の重要地点を空間的に配置し、どこを確認・制御するかを直感的に把握するための図解です。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説明責任、比較、証跡、表形式の読みやすさを優先するモード向けテンプレート。
Slide 12: パズル/ハニカムテンプレート
report-puzzle-visual: パズル/ハニカム (puzzle) report schematic template
report-puzzle-visual long description: 複数の機能や観点が連動して一つの価値を作ることを、ハニカム状のまとまりで示す図解です。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説明責任、比較、証跡、表形式の読みやすさを優先するモード向けテンプレート。
Slide 13: 相関図/概念図テンプレート
report-correlation-visual: 相関図/概念図 (correlation) report schematic template
report-correlation-visual long description: 中心となる概念と周辺要素の関係を放射状に整理し、全体像と関連性を一度に説明する図解です。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説明責任、比較、証跡、表形式の読みやすさを優先するモード向けテンプレート。
Slide 14: マトリクステンプレート
report-matrix-visual: マトリクス (matrix) report schematic template
report-matrix-visual long description: 二つの評価軸で施策や論点を配置し、優先順位や位置づけを判断しやすくする図解です。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説明責任、比較、証跡、表形式の読みやすさを優先するモード向けテンプレート。
Slide 15: ベン図テンプレート
report-venn-visual: ベン図 (venn) report schematic template
report-venn-visual long description: 二つまたは三つの領域の重なりを示し、共通価値や交差領域を説明する図解です。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説明責任、比較、証跡、表形式の読みやすさを優先するモード向けテンプレート。
Slide 16: 数式テンプレート
report-cross-visual: 数式 (cross) report schematic template
report-cross-visual long description: 複数の入力や条件が組み合わさって成果へつながることを、数式のように簡潔に示す図解です。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説明責任、比較、証跡、表形式の読みやすさを優先するモード向けテンプレート。
Slide 17: グループ/集合テンプレート
report-set-visual: グループ/集合 (set) report schematic template
report-set-visual long description: 関連する要素をグループに分け、どの要素がどのまとまりに属するかを整理する図解です。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説明責任、比較、証跡、表形式の読みやすさを優先するモード向けテンプレート。
Slide 18: 項目比較テンプレート
report-contrast-visual: 項目比較 (contrast) report schematic template
report-contrast-visual long description: 二つの選択肢や状態を左右に並べ、差分と判断材料を強調する比較図です。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説明責任、比較、証跡、表形式の読みやすさを優先するモード向けテンプレート。
Slide 19: 規模比較テンプレート
report-scale-contrast-visual: 規模比較 (scale-contrast) report schematic template
report-scale-contrast-visual long description: 複数の数値差を円の面積で表し、大小関係を直感的に伝える図解です。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説明責任、比較、証跡、表形式の読みやすさを優先するモード向けテンプレート。
Slide 20: 規模分析テンプレート
report-grow-visual: 規模分析 (grow) report schematic template
report-grow-visual long description: 全体から到達可能範囲、初期対象へと段階的に絞り込む考え方を同心円で示す図解です。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説明責任、比較、証跡、表形式の読みやすさを優先するモード向けテンプレート。
Slide 21: レイヤー構造テンプレート
report-layer-visual: レイヤー構造 (layer) report schematic template
report-layer-visual long description: 上位から下位、または体験から基盤までの役割を層として積み上げる図解です。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説明責任、比較、証跡、表形式の読みやすさを優先するモード向けテンプレート。
Slide 22: トライアングルテンプレート
report-triangle-visual: トライアングル (triangle) report schematic template
report-triangle-visual long description: 下層の基盤から上層の成果へ段階的に積み上がる関係を示す図解です。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説明責任、比較、証跡、表形式の読みやすさを優先するモード向けテンプレート。
Slide 23: 階段/ステップテンプレート
report-step-visual: 階段/ステップ (step) report schematic template
report-step-visual long description: 導入から展開までの成長段階を階段状に示し、進むべき順序を明確にする図解です。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説明責任、比較、証跡、表形式の読みやすさを優先するモード向けテンプレート。
Slide 24: ガントチャートテンプレート
report-gantt-visual: ガントチャート (gantt) report schematic template
report-gantt-visual long description: タスクと期間を同じ表面に並べ、進行計画や担当タイミングを把握しやすくする図解です。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説明責任、比較、証跡、表形式の読みやすさを優先するモード向けテンプレート。
Slide 25: ランキングテンプレート
report-ranking-visual: ランキング (ranking) report schematic template
report-ranking-visual long description: 順位だけでなく数値差も棒で示し、優先順位の意味を伝えやすくする図解です。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説明責任、比較、証跡、表形式の読みやすさを優先するモード向けテンプレート。
Slide 26: 箇条書き縦テンプレート
report-list-visual: 箇条書き縦 (list) report schematic template
report-list-visual long description: 複数の要点を縦方向に並べ、読み順と視線移動を安定させる図解です。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説明責任、比較、証跡、表形式の読みやすさを優先するモード向けテンプレート。
Slide 27: 箇条書き横テンプレート
report-list-horizontal-visual: 箇条書き横 (list-horizontal) report schematic template
report-list-horizontal-visual long description: 少数の重要ポイントを横並びカードで配置し、同列の観点として比較しやすくする図解です。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説明責任、比較、証跡、表形式の読みやすさを優先するモード向けテンプレート。
Slide 28: 箇条書き羅列テンプレート
report-list-enumeration-visual: 箇条書き羅列 (list-enumeration) report schematic template
report-list-enumeration-visual long description: 順番のある手順やチェック項目を番号付きで示し、抜け漏れなく追えるようにする図解です。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説明責任、比較、証跡、表形式の読みやすさを優先するモード向けテンプレート。
Slide 29: モックアップテンプレート
report-mockup-visual: モックアップ (mockup) report schematic template
report-mockup-visual long description: アプリやポータルの雰囲気を簡潔な画面風カードとして示し、概念を共有しやすくする図解です。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8F3D35"/>
          </a:solidFill>
          <a:ln w="1270">
            <a:solidFill>
              <a:srgbClr val="8F3D35"/>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1EEE7"/>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8F3D35"/>
          </a:solidFill>
          <a:ln w="1270">
            <a:solidFill>
              <a:srgbClr val="8F3D35"/>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8F3D35"/>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000" b="1" spc="-40" kern="0" dirty="0">
                <a:solidFill>
                  <a:srgbClr val="24211D"/>
                </a:solidFill>
                <a:latin typeface="Yu Gothic" pitchFamily="34" charset="0"/>
                <a:ea typeface="Yu Gothic" pitchFamily="34" charset="-122"/>
                <a:cs typeface="Yu Gothic" pitchFamily="34" charset="-120"/>
              </a:rPr>
              <a:t>AIスライド品質標準</a:t>
            </a:r>
            <a:endParaRPr lang="en-US" sz="30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用途・聴衆・ボリュームを先に固定</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し、編集可能な図形で表現します。</a:t>
            </a:r>
            <a:endParaRPr lang="en-US" sz="2000" dirty="0"/>
          </a:p>
        </p:txBody>
      </p:sp>
      <p:sp>
        <p:nvSpPr>
          <p:cNvPr id="10" name="Text 6"/>
          <p:cNvSpPr/>
          <p:nvPr/>
        </p:nvSpPr>
        <p:spPr>
          <a:xfrm>
            <a:off x="731520" y="5212080"/>
            <a:ext cx="5852160" cy="548640"/>
          </a:xfrm>
          <a:prstGeom prst="rect">
            <a:avLst/>
          </a:prstGeom>
          <a:noFill/>
          <a:ln/>
        </p:spPr>
        <p:txBody>
          <a:bodyPr wrap="square" lIns="254" tIns="254" rIns="254" bIns="254" rtlCol="0" anchor="ctr">
            <a:normAutofit/>
          </a:bodyPr>
          <a:lstStyle/>
          <a:p>
            <a:pPr algn="l" indent="0" marL="0">
              <a:buNone/>
            </a:pPr>
            <a:r>
              <a:rPr lang="en-US" sz="1200" dirty="0">
                <a:solidFill>
                  <a:srgbClr val="5F5A52"/>
                </a:solidFill>
                <a:latin typeface="Yu Gothic" pitchFamily="34" charset="0"/>
                <a:ea typeface="Yu Gothic" pitchFamily="34" charset="-122"/>
                <a:cs typeface="Yu Gothic" pitchFamily="34" charset="-120"/>
              </a:rPr>
              <a:t>対象: GitHub CopilotやClaude Codeを使う開発者・デザイナー・企画担当</a:t>
            </a:r>
            <a:endParaRPr lang="en-US" sz="12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24211D"/>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851453" cy="292608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各スライドは1メッセージ。図</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やカードは編集可能な</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PowerPointオブジェクトです。</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8F3D35"/>
          </a:solidFill>
          <a:ln w="1270">
            <a:solidFill>
              <a:srgbClr val="8F3D35"/>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8F3D35"/>
          </a:solidFill>
          <a:ln w="1270">
            <a:solidFill>
              <a:srgbClr val="8F3D35"/>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8F3D35"/>
          </a:solidFill>
          <a:ln w="1270">
            <a:solidFill>
              <a:srgbClr val="8F3D35"/>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8F3D35"/>
          </a:solidFill>
          <a:ln w="1270">
            <a:solidFill>
              <a:srgbClr val="8F3D35"/>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ヒアリングから可視化までの流れ</a:t>
            </a:r>
            <a:endParaRPr lang="en-US" sz="2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1</a:t>
            </a:r>
            <a:endParaRPr lang="en-US" sz="12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目的</a:t>
            </a:r>
            <a:endParaRPr lang="en-US" sz="14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2</a:t>
            </a:r>
            <a:endParaRPr lang="en-US" sz="12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聴衆</a:t>
            </a:r>
            <a:endParaRPr lang="en-US" sz="14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3</a:t>
            </a:r>
            <a:endParaRPr lang="en-US" sz="12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構成</a:t>
            </a:r>
            <a:endParaRPr lang="en-US" sz="14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4</a:t>
            </a:r>
            <a:endParaRPr lang="en-US" sz="12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可視化</a:t>
            </a:r>
            <a:endParaRPr lang="en-US" sz="14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5</a:t>
            </a:r>
            <a:endParaRPr lang="en-US" sz="12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検証</a:t>
            </a:r>
            <a:endParaRPr lang="en-US" sz="14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先に聞くほど、後のスライドは短く・強く・見やすくなります。</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1EEE7"/>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1EEE7"/>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8F3D35"/>
          </a:solidFill>
          <a:ln w="1270">
            <a:solidFill>
              <a:srgbClr val="8F3D35"/>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1EEE7"/>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8F3D35"/>
          </a:solidFill>
          <a:ln w="1270">
            <a:solidFill>
              <a:srgbClr val="8F3D35"/>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情報UIとしてのスライド設計</a:t>
            </a:r>
            <a:endParaRPr lang="en-US" sz="28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000" b="1" spc="-40" kern="0" dirty="0">
                <a:solidFill>
                  <a:srgbClr val="FFFFFF"/>
                </a:solidFill>
                <a:latin typeface="Yu Gothic" pitchFamily="34" charset="0"/>
                <a:ea typeface="Yu Gothic" pitchFamily="34" charset="-122"/>
                <a:cs typeface="Yu Gothic" pitchFamily="34" charset="-120"/>
              </a:rPr>
              <a:t>用途別スタイル選定</a:t>
            </a:r>
            <a:endParaRPr lang="en-US" sz="30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000" dirty="0">
                <a:solidFill>
                  <a:srgbClr val="FFFFFF"/>
                </a:solidFill>
                <a:latin typeface="Yu Gothic" pitchFamily="34" charset="0"/>
                <a:ea typeface="Yu Gothic" pitchFamily="34" charset="-122"/>
                <a:cs typeface="Yu Gothic" pitchFamily="34" charset="-120"/>
              </a:rPr>
              <a:t>現在のスタイル: report。テンプレート: report-formal。</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pic>
        <p:nvPicPr>
          <p:cNvPr id="2" name="Image 0" descr="表 (tab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pic>
        <p:nvPicPr>
          <p:cNvPr id="2" name="Image 0" descr="ツリー (tre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pic>
        <p:nvPicPr>
          <p:cNvPr id="2" name="Image 0" descr="横フロー (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pic>
        <p:nvPicPr>
          <p:cNvPr id="2" name="Image 0" descr="縦フロー (vertical-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pic>
        <p:nvPicPr>
          <p:cNvPr id="2" name="Image 0" descr="サイクル (cyc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pic>
        <p:nvPicPr>
          <p:cNvPr id="2" name="Image 0" descr="前後比較 (before-aft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pic>
        <p:nvPicPr>
          <p:cNvPr id="2" name="Image 0" descr="マップ (ma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pic>
        <p:nvPicPr>
          <p:cNvPr id="2" name="Image 0" descr="パズル/ハニカム (puzz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pic>
        <p:nvPicPr>
          <p:cNvPr id="2" name="Image 0" descr="相関図/概念図 (correl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pic>
        <p:nvPicPr>
          <p:cNvPr id="2" name="Image 0" descr="マトリクス (matrix)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pic>
        <p:nvPicPr>
          <p:cNvPr id="2" name="Image 0" descr="ベン図 (ven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pic>
        <p:nvPicPr>
          <p:cNvPr id="2" name="Image 0" descr="数式 (cross)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pic>
        <p:nvPicPr>
          <p:cNvPr id="2" name="Image 0" descr="グループ/集合 (se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pic>
        <p:nvPicPr>
          <p:cNvPr id="2" name="Image 0" descr="項目比較 (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7"/>
        </a:solidFill>
      </p:bgPr>
    </p:bg>
    <p:spTree>
      <p:nvGrpSpPr>
        <p:cNvPr id="1" name=""/>
        <p:cNvGrpSpPr/>
        <p:nvPr/>
      </p:nvGrpSpPr>
      <p:grpSpPr>
        <a:xfrm>
          <a:off x="0" y="0"/>
          <a:ext cx="0" cy="0"/>
          <a:chOff x="0" y="0"/>
          <a:chExt cx="0" cy="0"/>
        </a:xfrm>
      </p:grpSpPr>
      <p:pic>
        <p:nvPicPr>
          <p:cNvPr id="2" name="Image 0" descr="規模比較 (scale-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7"/>
        </a:solidFill>
      </p:bgPr>
    </p:bg>
    <p:spTree>
      <p:nvGrpSpPr>
        <p:cNvPr id="1" name=""/>
        <p:cNvGrpSpPr/>
        <p:nvPr/>
      </p:nvGrpSpPr>
      <p:grpSpPr>
        <a:xfrm>
          <a:off x="0" y="0"/>
          <a:ext cx="0" cy="0"/>
          <a:chOff x="0" y="0"/>
          <a:chExt cx="0" cy="0"/>
        </a:xfrm>
      </p:grpSpPr>
      <p:pic>
        <p:nvPicPr>
          <p:cNvPr id="2" name="Image 0" descr="規模分析 (gr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7"/>
        </a:solidFill>
      </p:bgPr>
    </p:bg>
    <p:spTree>
      <p:nvGrpSpPr>
        <p:cNvPr id="1" name=""/>
        <p:cNvGrpSpPr/>
        <p:nvPr/>
      </p:nvGrpSpPr>
      <p:grpSpPr>
        <a:xfrm>
          <a:off x="0" y="0"/>
          <a:ext cx="0" cy="0"/>
          <a:chOff x="0" y="0"/>
          <a:chExt cx="0" cy="0"/>
        </a:xfrm>
      </p:grpSpPr>
      <p:pic>
        <p:nvPicPr>
          <p:cNvPr id="2" name="Image 0" descr="レイヤー構造 (lay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7"/>
        </a:solidFill>
      </p:bgPr>
    </p:bg>
    <p:spTree>
      <p:nvGrpSpPr>
        <p:cNvPr id="1" name=""/>
        <p:cNvGrpSpPr/>
        <p:nvPr/>
      </p:nvGrpSpPr>
      <p:grpSpPr>
        <a:xfrm>
          <a:off x="0" y="0"/>
          <a:ext cx="0" cy="0"/>
          <a:chOff x="0" y="0"/>
          <a:chExt cx="0" cy="0"/>
        </a:xfrm>
      </p:grpSpPr>
      <p:pic>
        <p:nvPicPr>
          <p:cNvPr id="2" name="Image 0" descr="トライアングル (triang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7"/>
        </a:solidFill>
      </p:bgPr>
    </p:bg>
    <p:spTree>
      <p:nvGrpSpPr>
        <p:cNvPr id="1" name=""/>
        <p:cNvGrpSpPr/>
        <p:nvPr/>
      </p:nvGrpSpPr>
      <p:grpSpPr>
        <a:xfrm>
          <a:off x="0" y="0"/>
          <a:ext cx="0" cy="0"/>
          <a:chOff x="0" y="0"/>
          <a:chExt cx="0" cy="0"/>
        </a:xfrm>
      </p:grpSpPr>
      <p:pic>
        <p:nvPicPr>
          <p:cNvPr id="2" name="Image 0" descr="階段/ステップ (ste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7"/>
        </a:solidFill>
      </p:bgPr>
    </p:bg>
    <p:spTree>
      <p:nvGrpSpPr>
        <p:cNvPr id="1" name=""/>
        <p:cNvGrpSpPr/>
        <p:nvPr/>
      </p:nvGrpSpPr>
      <p:grpSpPr>
        <a:xfrm>
          <a:off x="0" y="0"/>
          <a:ext cx="0" cy="0"/>
          <a:chOff x="0" y="0"/>
          <a:chExt cx="0" cy="0"/>
        </a:xfrm>
      </p:grpSpPr>
      <p:pic>
        <p:nvPicPr>
          <p:cNvPr id="2" name="Image 0" descr="ガントチャート (gant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7"/>
        </a:solidFill>
      </p:bgPr>
    </p:bg>
    <p:spTree>
      <p:nvGrpSpPr>
        <p:cNvPr id="1" name=""/>
        <p:cNvGrpSpPr/>
        <p:nvPr/>
      </p:nvGrpSpPr>
      <p:grpSpPr>
        <a:xfrm>
          <a:off x="0" y="0"/>
          <a:ext cx="0" cy="0"/>
          <a:chOff x="0" y="0"/>
          <a:chExt cx="0" cy="0"/>
        </a:xfrm>
      </p:grpSpPr>
      <p:pic>
        <p:nvPicPr>
          <p:cNvPr id="2" name="Image 0" descr="ランキング (ranking)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7"/>
        </a:solidFill>
      </p:bgPr>
    </p:bg>
    <p:spTree>
      <p:nvGrpSpPr>
        <p:cNvPr id="1" name=""/>
        <p:cNvGrpSpPr/>
        <p:nvPr/>
      </p:nvGrpSpPr>
      <p:grpSpPr>
        <a:xfrm>
          <a:off x="0" y="0"/>
          <a:ext cx="0" cy="0"/>
          <a:chOff x="0" y="0"/>
          <a:chExt cx="0" cy="0"/>
        </a:xfrm>
      </p:grpSpPr>
      <p:pic>
        <p:nvPicPr>
          <p:cNvPr id="2" name="Image 0" descr="箇条書き縦 (li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7"/>
        </a:solidFill>
      </p:bgPr>
    </p:bg>
    <p:spTree>
      <p:nvGrpSpPr>
        <p:cNvPr id="1" name=""/>
        <p:cNvGrpSpPr/>
        <p:nvPr/>
      </p:nvGrpSpPr>
      <p:grpSpPr>
        <a:xfrm>
          <a:off x="0" y="0"/>
          <a:ext cx="0" cy="0"/>
          <a:chOff x="0" y="0"/>
          <a:chExt cx="0" cy="0"/>
        </a:xfrm>
      </p:grpSpPr>
      <p:pic>
        <p:nvPicPr>
          <p:cNvPr id="2" name="Image 0" descr="箇条書き横 (list-horizontal)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7"/>
        </a:solidFill>
      </p:bgPr>
    </p:bg>
    <p:spTree>
      <p:nvGrpSpPr>
        <p:cNvPr id="1" name=""/>
        <p:cNvGrpSpPr/>
        <p:nvPr/>
      </p:nvGrpSpPr>
      <p:grpSpPr>
        <a:xfrm>
          <a:off x="0" y="0"/>
          <a:ext cx="0" cy="0"/>
          <a:chOff x="0" y="0"/>
          <a:chExt cx="0" cy="0"/>
        </a:xfrm>
      </p:grpSpPr>
      <p:pic>
        <p:nvPicPr>
          <p:cNvPr id="2" name="Image 0" descr="箇条書き羅列 (list-enumer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7"/>
        </a:solidFill>
      </p:bgPr>
    </p:bg>
    <p:spTree>
      <p:nvGrpSpPr>
        <p:cNvPr id="1" name=""/>
        <p:cNvGrpSpPr/>
        <p:nvPr/>
      </p:nvGrpSpPr>
      <p:grpSpPr>
        <a:xfrm>
          <a:off x="0" y="0"/>
          <a:ext cx="0" cy="0"/>
          <a:chOff x="0" y="0"/>
          <a:chExt cx="0" cy="0"/>
        </a:xfrm>
      </p:grpSpPr>
      <p:pic>
        <p:nvPicPr>
          <p:cNvPr id="2" name="Image 0" descr="モックアップ (mocku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2800" b="1" dirty="0">
                <a:solidFill>
                  <a:srgbClr val="24211D"/>
                </a:solidFill>
                <a:latin typeface="Yu Gothic" pitchFamily="34" charset="0"/>
                <a:ea typeface="Yu Gothic" pitchFamily="34" charset="-122"/>
                <a:cs typeface="Yu Gothic" pitchFamily="34" charset="-120"/>
              </a:rPr>
              <a:t>参考URL・出典</a:t>
            </a:r>
            <a:endParaRPr lang="en-US" sz="28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F5A52"/>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24211D"/>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24211D"/>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2026-06-20T09:11:05Z</dcterms:created>
  <dcterms:modified xsi:type="dcterms:W3CDTF">2026-06-20T09:11:05Z</dcterms:modified>
</cp:coreProperties>
</file>