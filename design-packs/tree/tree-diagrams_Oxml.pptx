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purl.oclc.org/ooxml/officeDocument/relationships/extendedProperties" Target="docProps/app.xml"/><Relationship Id="rId2" Type="http://schemas.openxmlformats.org/package/2006/relationships/metadata/core-properties" Target="docProps/core.xml"/><Relationship Id="rId1" Type="http://purl.oclc.org/ooxml/officeDocument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purl.oclc.org/ooxml/drawingml/main" xmlns:r="http://purl.oclc.org/ooxml/officeDocument/relationships" xmlns:p="http://purl.oclc.org/ooxml/presentationml/main" saveSubsetFonts="1" autoCompressPictures="0" conformance="strict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purl.oclc.org/ooxml/drawingml/main" xmlns:r="http://purl.oclc.org/ooxml/officeDocument/relationships" xmlns:p="http://purl.oclc.org/ooxml/presentationml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purl.oclc.org/ooxml/drawingml/main" def="{5C22544A-7EE6-4342-B048-85BDC9FD1C3A}"/>
</file>

<file path=ppt/viewProps.xml><?xml version="1.0" encoding="utf-8"?>
<p:viewPr xmlns:a="http://purl.oclc.org/ooxml/drawingml/main" xmlns:r="http://purl.oclc.org/ooxml/officeDocument/relationships" xmlns:p="http://purl.oclc.org/ooxml/presentationml/main">
  <p:normalViewPr horzBarState="maximized">
    <p:restoredLeft sz="15.611%"/>
    <p:restoredTop sz="94.61%"/>
  </p:normalViewPr>
  <p:slideViewPr>
    <p:cSldViewPr snapToGrid="0" snapToObjects="1">
      <p:cViewPr varScale="1">
        <p:scale>
          <a:sx n="87" d="100"/>
          <a:sy n="87" d="100"/>
        </p:scale>
        <p:origin x="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purl.oclc.org/ooxml/officeDocument/relationships/slide" Target="slides/slide7.xml"/><Relationship Id="rId13" Type="http://purl.oclc.org/ooxml/officeDocument/relationships/presProps" Target="presProps.xml"/><Relationship Id="rId3" Type="http://purl.oclc.org/ooxml/officeDocument/relationships/slide" Target="slides/slide2.xml"/><Relationship Id="rId7" Type="http://purl.oclc.org/ooxml/officeDocument/relationships/slide" Target="slides/slide6.xml"/><Relationship Id="rId12" Type="http://purl.oclc.org/ooxml/officeDocument/relationships/notesMaster" Target="notesMasters/notesMaster1.xml"/><Relationship Id="rId2" Type="http://purl.oclc.org/ooxml/officeDocument/relationships/slide" Target="slides/slide1.xml"/><Relationship Id="rId16" Type="http://purl.oclc.org/ooxml/officeDocument/relationships/tableStyles" Target="tableStyles.xml"/><Relationship Id="rId1" Type="http://purl.oclc.org/ooxml/officeDocument/relationships/slideMaster" Target="slideMasters/slideMaster1.xml"/><Relationship Id="rId6" Type="http://purl.oclc.org/ooxml/officeDocument/relationships/slide" Target="slides/slide5.xml"/><Relationship Id="rId11" Type="http://purl.oclc.org/ooxml/officeDocument/relationships/slide" Target="slides/slide10.xml"/><Relationship Id="rId5" Type="http://purl.oclc.org/ooxml/officeDocument/relationships/slide" Target="slides/slide4.xml"/><Relationship Id="rId15" Type="http://purl.oclc.org/ooxml/officeDocument/relationships/theme" Target="theme/theme1.xml"/><Relationship Id="rId10" Type="http://purl.oclc.org/ooxml/officeDocument/relationships/slide" Target="slides/slide9.xml"/><Relationship Id="rId4" Type="http://purl.oclc.org/ooxml/officeDocument/relationships/slide" Target="slides/slide3.xml"/><Relationship Id="rId9" Type="http://purl.oclc.org/ooxml/officeDocument/relationships/slide" Target="slides/slide8.xml"/><Relationship Id="rId14" Type="http://purl.oclc.org/ooxml/officeDocument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purl.oclc.org/ooxml/officeDocument/relationships/theme" Target="../theme/theme2.xml"/></Relationships>
</file>

<file path=ppt/notesMasters/notesMaster1.xml><?xml version="1.0" encoding="utf-8"?>
<p:notes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purl.oclc.org/ooxml/officeDocument/relationships/slide" Target="../slides/slide1.xml"/><Relationship Id="rId1" Type="http://purl.oclc.org/ooxml/officeDocument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purl.oclc.org/ooxml/officeDocument/relationships/slide" Target="../slides/slide2.xml"/><Relationship Id="rId1" Type="http://purl.oclc.org/ooxml/officeDocument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purl.oclc.org/ooxml/officeDocument/relationships/slide" Target="../slides/slide3.xml"/><Relationship Id="rId1" Type="http://purl.oclc.org/ooxml/officeDocument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purl.oclc.org/ooxml/officeDocument/relationships/slide" Target="../slides/slide4.xml"/><Relationship Id="rId1" Type="http://purl.oclc.org/ooxml/officeDocument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purl.oclc.org/ooxml/officeDocument/relationships/slide" Target="../slides/slide5.xml"/><Relationship Id="rId1" Type="http://purl.oclc.org/ooxml/officeDocument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purl.oclc.org/ooxml/officeDocument/relationships/slide" Target="../slides/slide6.xml"/><Relationship Id="rId1" Type="http://purl.oclc.org/ooxml/officeDocument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purl.oclc.org/ooxml/officeDocument/relationships/slide" Target="../slides/slide7.xml"/><Relationship Id="rId1" Type="http://purl.oclc.org/ooxml/officeDocument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purl.oclc.org/ooxml/officeDocument/relationships/slide" Target="../slides/slide8.xml"/><Relationship Id="rId1" Type="http://purl.oclc.org/ooxml/officeDocument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purl.oclc.org/ooxml/officeDocument/relationships/slide" Target="../slides/slide9.xml"/><Relationship Id="rId1" Type="http://purl.oclc.org/ooxml/officeDocument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purl.oclc.org/ooxml/officeDocument/relationships/slide" Target="../slides/slide10.xml"/><Relationship Id="rId1" Type="http://purl.oclc.org/ooxml/officeDocument/relationships/notesMaster" Target="../notesMasters/notesMaster1.xml"/></Relationships>
</file>

<file path=ppt/notesSlides/notesSlide1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slideLayout1.xml><?xml version="1.0" encoding="utf-8"?>
<p:sldLayout xmlns:a="http://purl.oclc.org/ooxml/drawingml/main" xmlns:r="http://purl.oclc.org/ooxml/officeDocument/relationships" xmlns:p="http://purl.oclc.org/ooxml/presentationml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purl.oclc.org/ooxml/officeDocument/relationships/theme" Target="../theme/theme1.xml"/><Relationship Id="rId1" Type="http://purl.oclc.org/ooxml/officeDocument/relationships/slideLayout" Target="../slideLayouts/slideLayout1.xml"/></Relationships>
</file>

<file path=ppt/slideMasters/slideMaster1.xml><?xml version="1.0" encoding="utf-8"?>
<p:sld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%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%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%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%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%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%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%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%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%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%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1.xml"/><Relationship Id="rId1" Type="http://purl.oclc.org/ooxml/officeDocument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2.xml"/><Relationship Id="rId1" Type="http://purl.oclc.org/ooxml/officeDocument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3.xml"/><Relationship Id="rId1" Type="http://purl.oclc.org/ooxml/officeDocument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4.xml"/><Relationship Id="rId1" Type="http://purl.oclc.org/ooxml/officeDocument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5.xml"/><Relationship Id="rId1" Type="http://purl.oclc.org/ooxml/officeDocument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6.xml"/><Relationship Id="rId1" Type="http://purl.oclc.org/ooxml/officeDocument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7.xml"/><Relationship Id="rId1" Type="http://purl.oclc.org/ooxml/officeDocument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8.xml"/><Relationship Id="rId1" Type="http://purl.oclc.org/ooxml/officeDocument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9.xml"/><Relationship Id="rId1" Type="http://purl.oclc.org/ooxml/officeDocument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10.xml"/><Relationship Id="rId1" Type="http://purl.oclc.org/ooxml/officeDocument/relationships/slideLayout" Target="../slideLayouts/slideLayout1.xml"/></Relationships>
</file>

<file path=ppt/slides/slide1.xml><?xml version="1.0" encoding="utf-8"?>
<p:sld xmlns:a="http://purl.oclc.org/ooxml/drawingml/main" xmlns:r="http://purl.oclc.org/ooxml/officeDocument/relationships" xmlns:p="http://purl.oclc.org/ooxml/presentationml/main">
  <p:cSld name="Slide 1"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2194560"/>
            <a:ext cx="2377440" cy="0"/>
          </a:xfrm>
          <a:prstGeom prst="line">
            <a:avLst/>
          </a:prstGeom>
          <a:noFill/>
          <a:ln w="19050">
            <a:solidFill>
              <a:srgbClr val="3E5C8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746504"/>
            <a:ext cx="0" cy="448056"/>
          </a:xfrm>
          <a:prstGeom prst="line">
            <a:avLst/>
          </a:prstGeom>
          <a:noFill/>
          <a:ln w="19050">
            <a:solidFill>
              <a:srgbClr val="3E5C8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7955280" y="2194560"/>
            <a:ext cx="0" cy="466344"/>
          </a:xfrm>
          <a:prstGeom prst="line">
            <a:avLst/>
          </a:prstGeom>
          <a:noFill/>
          <a:ln w="19050">
            <a:solidFill>
              <a:srgbClr val="3E5C8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0332720" y="2194560"/>
            <a:ext cx="0" cy="466344"/>
          </a:xfrm>
          <a:prstGeom prst="line">
            <a:avLst/>
          </a:prstGeom>
          <a:noFill/>
          <a:ln w="19050">
            <a:solidFill>
              <a:srgbClr val="3E5C8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223760" y="3383280"/>
            <a:ext cx="1463040" cy="0"/>
          </a:xfrm>
          <a:prstGeom prst="line">
            <a:avLst/>
          </a:prstGeom>
          <a:noFill/>
          <a:ln w="16510">
            <a:solidFill>
              <a:srgbClr val="3E5C8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7955280" y="2916936"/>
            <a:ext cx="0" cy="466344"/>
          </a:xfrm>
          <a:prstGeom prst="line">
            <a:avLst/>
          </a:prstGeom>
          <a:noFill/>
          <a:ln w="16510">
            <a:solidFill>
              <a:srgbClr val="3E5C8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7223760" y="3383280"/>
            <a:ext cx="0" cy="484632"/>
          </a:xfrm>
          <a:prstGeom prst="line">
            <a:avLst/>
          </a:prstGeom>
          <a:noFill/>
          <a:ln w="16510">
            <a:solidFill>
              <a:srgbClr val="3E5C8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8686800" y="3383280"/>
            <a:ext cx="0" cy="484632"/>
          </a:xfrm>
          <a:prstGeom prst="line">
            <a:avLst/>
          </a:prstGeom>
          <a:noFill/>
          <a:ln w="16510">
            <a:solidFill>
              <a:srgbClr val="3E5C8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601200" y="3383280"/>
            <a:ext cx="1463040" cy="0"/>
          </a:xfrm>
          <a:prstGeom prst="line">
            <a:avLst/>
          </a:prstGeom>
          <a:noFill/>
          <a:ln w="16510">
            <a:solidFill>
              <a:srgbClr val="3E5C8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10332720" y="2916936"/>
            <a:ext cx="0" cy="466344"/>
          </a:xfrm>
          <a:prstGeom prst="line">
            <a:avLst/>
          </a:prstGeom>
          <a:noFill/>
          <a:ln w="16510">
            <a:solidFill>
              <a:srgbClr val="3E5C8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9601200" y="3383280"/>
            <a:ext cx="0" cy="484632"/>
          </a:xfrm>
          <a:prstGeom prst="line">
            <a:avLst/>
          </a:prstGeom>
          <a:noFill/>
          <a:ln w="16510">
            <a:solidFill>
              <a:srgbClr val="3E5C8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11064240" y="3383280"/>
            <a:ext cx="0" cy="484632"/>
          </a:xfrm>
          <a:prstGeom prst="line">
            <a:avLst/>
          </a:prstGeom>
          <a:noFill/>
          <a:ln w="16510">
            <a:solidFill>
              <a:srgbClr val="3E5C8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8961120" y="1417320"/>
            <a:ext cx="365760" cy="365760"/>
          </a:xfrm>
          <a:prstGeom prst="ellipse">
            <a:avLst/>
          </a:prstGeom>
          <a:solidFill>
            <a:srgbClr val="5BD0E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7808976" y="2642616"/>
            <a:ext cx="292608" cy="292608"/>
          </a:xfrm>
          <a:prstGeom prst="ellipse">
            <a:avLst/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10186416" y="2642616"/>
            <a:ext cx="292608" cy="292608"/>
          </a:xfrm>
          <a:prstGeom prst="ellipse">
            <a:avLst/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7114032" y="3867912"/>
            <a:ext cx="219456" cy="219456"/>
          </a:xfrm>
          <a:prstGeom prst="ellipse">
            <a:avLst/>
          </a:prstGeom>
          <a:solidFill>
            <a:srgbClr val="3F7F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8577072" y="3867912"/>
            <a:ext cx="219456" cy="219456"/>
          </a:xfrm>
          <a:prstGeom prst="ellipse">
            <a:avLst/>
          </a:prstGeom>
          <a:solidFill>
            <a:srgbClr val="3F7F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9491472" y="3867912"/>
            <a:ext cx="219456" cy="219456"/>
          </a:xfrm>
          <a:prstGeom prst="ellipse">
            <a:avLst/>
          </a:prstGeom>
          <a:solidFill>
            <a:srgbClr val="3F7F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10954512" y="3867912"/>
            <a:ext cx="219456" cy="219456"/>
          </a:xfrm>
          <a:prstGeom prst="ellipse">
            <a:avLst/>
          </a:prstGeom>
          <a:solidFill>
            <a:srgbClr val="3F7F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777240" y="1965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PRESENTATION SCHEMATIC PATTERNS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233172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ツリー図デザイン集</a:t>
            </a:r>
            <a:endParaRPr lang="en-US" sz="5000" dirty="0"/>
          </a:p>
        </p:txBody>
      </p:sp>
      <p:sp>
        <p:nvSpPr>
          <p:cNvPr id="23" name="Text 21"/>
          <p:cNvSpPr/>
          <p:nvPr/>
        </p:nvSpPr>
        <p:spPr>
          <a:xfrm>
            <a:off x="777240" y="3429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7D7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プレゼン資料で使える、きれいなツリー図 7パターン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77724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DA4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組織図・ロジックツリー・意思決定ツリー・マインドマップ ほか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7724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86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参考：Slideland ツリー図デザイン事例集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purl.oclc.org/ooxml/drawingml/main" xmlns:r="http://purl.oclc.org/ooxml/officeDocument/relationships" xmlns:p="http://purl.oclc.org/ooxml/presentationml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676656" cy="676656"/>
          </a:xfrm>
          <a:prstGeom prst="roundRect">
            <a:avLst>
              <a:gd name="adj" fmla="val 13514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676656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81328" y="457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7つのツリー図パターン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99616" y="969264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INDEX — 用途別に選べる代表的な図解スタイル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27632"/>
            <a:ext cx="2521458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blurRad="76200" dist="25400" dir="5400000" algn="bl" rotWithShape="0">
              <a:srgbClr val="B9C6D9">
                <a:alpha val="28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841248" y="1847088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3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841248" y="1847088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54480" y="1883664"/>
            <a:ext cx="15156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42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VERTICAL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9536" y="2560320"/>
            <a:ext cx="21556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縦型 組織図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59536" y="2962656"/>
            <a:ext cx="21556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%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上下の階層・レポートライン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35858" y="1627632"/>
            <a:ext cx="2521458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blurRad="967740000" dist="322580000"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3637026" y="1847088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3637026" y="1847088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350258" y="1883664"/>
            <a:ext cx="15156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HORIZONTAL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5314" y="2560320"/>
            <a:ext cx="21556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横型ツリー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655314" y="2962656"/>
            <a:ext cx="21556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%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分類の枝分かれ・展開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31636" y="1627632"/>
            <a:ext cx="2521458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6432804" y="1847088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432804" y="1847088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146036" y="1883664"/>
            <a:ext cx="15156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LOGIC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51092" y="2560320"/>
            <a:ext cx="21556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ロジックツリー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51092" y="2962656"/>
            <a:ext cx="21556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%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課題分解・要因分析(MECE)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27414" y="1627632"/>
            <a:ext cx="2521458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9228582" y="1847088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9228582" y="1847088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941814" y="1883664"/>
            <a:ext cx="15156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INDENTED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246870" y="2560320"/>
            <a:ext cx="21556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インデント型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246870" y="2962656"/>
            <a:ext cx="21556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%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目次・サイトマップ・多階層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037969" y="3657600"/>
            <a:ext cx="2521458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2239137" y="38770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2239137" y="38770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2952369" y="3913632"/>
            <a:ext cx="15156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DECISION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257425" y="4590288"/>
            <a:ext cx="21556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意思決定ツリー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2257425" y="4992624"/>
            <a:ext cx="21556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%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条件分岐・判断フロー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833747" y="3657600"/>
            <a:ext cx="2521458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5034915" y="38770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5034915" y="38770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5748147" y="3913632"/>
            <a:ext cx="15156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C5C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RADIAL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53203" y="4590288"/>
            <a:ext cx="21556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マインドマップ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5053203" y="4992624"/>
            <a:ext cx="21556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%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発想・全体俯瞰・関連づけ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629525" y="3657600"/>
            <a:ext cx="2521458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1"/>
          <p:cNvSpPr/>
          <p:nvPr/>
        </p:nvSpPr>
        <p:spPr>
          <a:xfrm>
            <a:off x="7830693" y="38770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7830693" y="38770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8543925" y="3913632"/>
            <a:ext cx="15156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853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PYRAMID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848981" y="4590288"/>
            <a:ext cx="21556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ピラミッド階層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7848981" y="4992624"/>
            <a:ext cx="21556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%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優先順位・抽象度の構造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40080" y="580644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各パターンのレイアウト・配色・連結のコツを、このあと順に紹介します。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purl.oclc.org/ooxml/drawingml/main" xmlns:r="http://purl.oclc.org/ooxml/officeDocument/relationships" xmlns:p="http://purl.oclc.org/ooxml/presentationml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676656" cy="676656"/>
          </a:xfrm>
          <a:prstGeom prst="roundRect">
            <a:avLst>
              <a:gd name="adj" fmla="val 13514"/>
            </a:avLst>
          </a:prstGeom>
          <a:solidFill>
            <a:srgbClr val="1423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676656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81328" y="457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縦型 組織図ツリー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99616" y="969264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VERTICAL — 上位から下位へ、階層を縦に展開する基本形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61408" y="1554480"/>
            <a:ext cx="2468880" cy="749808"/>
          </a:xfrm>
          <a:prstGeom prst="roundRect">
            <a:avLst>
              <a:gd name="adj" fmla="val 8537"/>
            </a:avLst>
          </a:prstGeom>
          <a:solidFill>
            <a:srgbClr val="14233A"/>
          </a:solidFill>
          <a:ln/>
          <a:effectLst>
            <a:outerShdw blurRad="63500" dist="31750" dir="5400000" algn="bl" rotWithShape="0">
              <a:srgbClr val="9FB3CC">
                <a:alpha val="32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861408" y="1554480"/>
            <a:ext cx="2468880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代表取締役社長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5848" y="2304288"/>
            <a:ext cx="0" cy="438912"/>
          </a:xfrm>
          <a:prstGeom prst="line">
            <a:avLst/>
          </a:prstGeom>
          <a:noFill/>
          <a:ln w="22225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2651760" y="2743200"/>
            <a:ext cx="6885432" cy="0"/>
          </a:xfrm>
          <a:prstGeom prst="line">
            <a:avLst/>
          </a:prstGeom>
          <a:noFill/>
          <a:ln w="22225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2651760" y="2743200"/>
            <a:ext cx="0" cy="457200"/>
          </a:xfrm>
          <a:prstGeom prst="line">
            <a:avLst/>
          </a:prstGeom>
          <a:noFill/>
          <a:ln w="22225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6095848" y="2743200"/>
            <a:ext cx="0" cy="457200"/>
          </a:xfrm>
          <a:prstGeom prst="line">
            <a:avLst/>
          </a:prstGeom>
          <a:noFill/>
          <a:ln w="22225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9537192" y="2743200"/>
            <a:ext cx="0" cy="457200"/>
          </a:xfrm>
          <a:prstGeom prst="line">
            <a:avLst/>
          </a:prstGeom>
          <a:noFill/>
          <a:ln w="22225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1531620" y="3200400"/>
            <a:ext cx="2240280" cy="676656"/>
          </a:xfrm>
          <a:prstGeom prst="roundRect">
            <a:avLst>
              <a:gd name="adj" fmla="val 9459"/>
            </a:avLst>
          </a:prstGeom>
          <a:solidFill>
            <a:srgbClr val="2B5797"/>
          </a:solidFill>
          <a:ln/>
          <a:effectLst>
            <a:outerShdw blurRad="806450000" dist="403225000"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1531620" y="3200400"/>
            <a:ext cx="2240280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営業本部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51760" y="3877056"/>
            <a:ext cx="0" cy="329184"/>
          </a:xfrm>
          <a:prstGeom prst="line">
            <a:avLst/>
          </a:prstGeom>
          <a:noFill/>
          <a:ln w="22225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1783080" y="4206240"/>
            <a:ext cx="1737360" cy="0"/>
          </a:xfrm>
          <a:prstGeom prst="line">
            <a:avLst/>
          </a:prstGeom>
          <a:noFill/>
          <a:ln w="22225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1783080" y="4206240"/>
            <a:ext cx="0" cy="274320"/>
          </a:xfrm>
          <a:prstGeom prst="line">
            <a:avLst/>
          </a:prstGeom>
          <a:noFill/>
          <a:ln w="22225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3520440" y="4206240"/>
            <a:ext cx="0" cy="274320"/>
          </a:xfrm>
          <a:prstGeom prst="line">
            <a:avLst/>
          </a:prstGeom>
          <a:noFill/>
          <a:ln w="22225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969264" y="4480560"/>
            <a:ext cx="162763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4A7BC8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969264" y="4480560"/>
            <a:ext cx="1627632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15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第一営業部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06624" y="4480560"/>
            <a:ext cx="162763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4A7BC8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2706624" y="4480560"/>
            <a:ext cx="1627632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15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第二営業部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975708" y="3200400"/>
            <a:ext cx="2240280" cy="676656"/>
          </a:xfrm>
          <a:prstGeom prst="roundRect">
            <a:avLst>
              <a:gd name="adj" fmla="val 9459"/>
            </a:avLst>
          </a:prstGeom>
          <a:solidFill>
            <a:srgbClr val="2B5797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4975708" y="3200400"/>
            <a:ext cx="2240280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開発本部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095848" y="3877056"/>
            <a:ext cx="0" cy="329184"/>
          </a:xfrm>
          <a:prstGeom prst="line">
            <a:avLst/>
          </a:prstGeom>
          <a:noFill/>
          <a:ln w="22225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5227168" y="4206240"/>
            <a:ext cx="1737360" cy="0"/>
          </a:xfrm>
          <a:prstGeom prst="line">
            <a:avLst/>
          </a:prstGeom>
          <a:noFill/>
          <a:ln w="22225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5227168" y="4206240"/>
            <a:ext cx="0" cy="274320"/>
          </a:xfrm>
          <a:prstGeom prst="line">
            <a:avLst/>
          </a:prstGeom>
          <a:noFill/>
          <a:ln w="22225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6964528" y="4206240"/>
            <a:ext cx="0" cy="274320"/>
          </a:xfrm>
          <a:prstGeom prst="line">
            <a:avLst/>
          </a:prstGeom>
          <a:noFill/>
          <a:ln w="22225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4413352" y="4480560"/>
            <a:ext cx="162763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4A7BC8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4413352" y="4480560"/>
            <a:ext cx="1627632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15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プロダクト開発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50712" y="4480560"/>
            <a:ext cx="162763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4A7BC8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6150712" y="4480560"/>
            <a:ext cx="1627632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15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技術基盤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417052" y="3200400"/>
            <a:ext cx="2240280" cy="676656"/>
          </a:xfrm>
          <a:prstGeom prst="roundRect">
            <a:avLst>
              <a:gd name="adj" fmla="val 9459"/>
            </a:avLst>
          </a:prstGeom>
          <a:solidFill>
            <a:srgbClr val="2B5797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8417052" y="3200400"/>
            <a:ext cx="2240280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管理本部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537192" y="3877056"/>
            <a:ext cx="0" cy="329184"/>
          </a:xfrm>
          <a:prstGeom prst="line">
            <a:avLst/>
          </a:prstGeom>
          <a:noFill/>
          <a:ln w="22225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8668512" y="4206240"/>
            <a:ext cx="1737360" cy="0"/>
          </a:xfrm>
          <a:prstGeom prst="line">
            <a:avLst/>
          </a:prstGeom>
          <a:noFill/>
          <a:ln w="22225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8668512" y="4206240"/>
            <a:ext cx="0" cy="274320"/>
          </a:xfrm>
          <a:prstGeom prst="line">
            <a:avLst/>
          </a:prstGeom>
          <a:noFill/>
          <a:ln w="22225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10405872" y="4206240"/>
            <a:ext cx="0" cy="274320"/>
          </a:xfrm>
          <a:prstGeom prst="line">
            <a:avLst/>
          </a:prstGeom>
          <a:noFill/>
          <a:ln w="22225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7854696" y="4480560"/>
            <a:ext cx="162763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4A7BC8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7854696" y="4480560"/>
            <a:ext cx="1627632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15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経営企画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592056" y="4480560"/>
            <a:ext cx="162763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4A7BC8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9592056" y="4480560"/>
            <a:ext cx="1627632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15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人事総務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40080" y="6144768"/>
            <a:ext cx="10908792" cy="457200"/>
          </a:xfrm>
          <a:prstGeom prst="roundRect">
            <a:avLst>
              <a:gd name="adj" fmla="val 120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640080" y="6144768"/>
            <a:ext cx="10908792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使う場面：組織図／レポートライン／製品・分類の階層　|　配色：最上位を濃く、下位ほど淡く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purl.oclc.org/ooxml/drawingml/main" xmlns:r="http://purl.oclc.org/ooxml/officeDocument/relationships" xmlns:p="http://purl.oclc.org/ooxml/presentationml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676656" cy="676656"/>
          </a:xfrm>
          <a:prstGeom prst="roundRect">
            <a:avLst>
              <a:gd name="adj" fmla="val 13514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676656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81328" y="457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横型ツリー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99616" y="969264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HORIZONTAL — 左から右へ。項目が多い分類・展開に最適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2286000" cy="868680"/>
          </a:xfrm>
          <a:prstGeom prst="roundRect">
            <a:avLst>
              <a:gd name="adj" fmla="val 7368"/>
            </a:avLst>
          </a:prstGeom>
          <a:solidFill>
            <a:srgbClr val="14233A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228600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事業領域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017520" y="3406140"/>
            <a:ext cx="548640" cy="0"/>
          </a:xfrm>
          <a:prstGeom prst="line">
            <a:avLst/>
          </a:prstGeom>
          <a:noFill/>
          <a:ln w="22225">
            <a:solidFill>
              <a:srgbClr val="4A7BC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566160" y="1828800"/>
            <a:ext cx="0" cy="3154680"/>
          </a:xfrm>
          <a:prstGeom prst="line">
            <a:avLst/>
          </a:prstGeom>
          <a:noFill/>
          <a:ln w="22225">
            <a:solidFill>
              <a:srgbClr val="4A7BC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566160" y="1828800"/>
            <a:ext cx="594360" cy="0"/>
          </a:xfrm>
          <a:prstGeom prst="line">
            <a:avLst/>
          </a:prstGeom>
          <a:noFill/>
          <a:ln w="22225">
            <a:solidFill>
              <a:srgbClr val="4A7BC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3566160" y="3406140"/>
            <a:ext cx="594360" cy="0"/>
          </a:xfrm>
          <a:prstGeom prst="line">
            <a:avLst/>
          </a:prstGeom>
          <a:noFill/>
          <a:ln w="22225">
            <a:solidFill>
              <a:srgbClr val="4A7BC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566160" y="4983480"/>
            <a:ext cx="594360" cy="0"/>
          </a:xfrm>
          <a:prstGeom prst="line">
            <a:avLst/>
          </a:prstGeom>
          <a:noFill/>
          <a:ln w="22225">
            <a:solidFill>
              <a:srgbClr val="4A7BC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160520" y="1499616"/>
            <a:ext cx="2331720" cy="658368"/>
          </a:xfrm>
          <a:prstGeom prst="roundRect">
            <a:avLst>
              <a:gd name="adj" fmla="val 9722"/>
            </a:avLst>
          </a:prstGeom>
          <a:solidFill>
            <a:srgbClr val="2B5797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160520" y="1499616"/>
            <a:ext cx="233172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92240" y="1828800"/>
            <a:ext cx="594360" cy="0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7086600" y="1353312"/>
            <a:ext cx="0" cy="950976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7086600" y="1353312"/>
            <a:ext cx="640080" cy="0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7086600" y="2304288"/>
            <a:ext cx="640080" cy="0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7726680" y="1078992"/>
            <a:ext cx="306324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7726680" y="1078992"/>
            <a:ext cx="306324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IaaS / PaaS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26680" y="2029968"/>
            <a:ext cx="306324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7726680" y="2029968"/>
            <a:ext cx="306324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SaaS 基盤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60520" y="3076956"/>
            <a:ext cx="2331720" cy="658368"/>
          </a:xfrm>
          <a:prstGeom prst="roundRect">
            <a:avLst>
              <a:gd name="adj" fmla="val 9722"/>
            </a:avLst>
          </a:prstGeom>
          <a:solidFill>
            <a:srgbClr val="2B5797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4160520" y="3076956"/>
            <a:ext cx="233172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 &amp; AI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92240" y="3406140"/>
            <a:ext cx="594360" cy="0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7086600" y="2930652"/>
            <a:ext cx="0" cy="950976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7086600" y="2930652"/>
            <a:ext cx="640080" cy="0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7086600" y="3881628"/>
            <a:ext cx="640080" cy="0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7726680" y="2656332"/>
            <a:ext cx="306324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7726680" y="2656332"/>
            <a:ext cx="306324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分析基盤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726680" y="3607308"/>
            <a:ext cx="306324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7726680" y="3607308"/>
            <a:ext cx="306324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生成AI活用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160520" y="4654296"/>
            <a:ext cx="2331720" cy="658368"/>
          </a:xfrm>
          <a:prstGeom prst="roundRect">
            <a:avLst>
              <a:gd name="adj" fmla="val 9722"/>
            </a:avLst>
          </a:prstGeom>
          <a:solidFill>
            <a:srgbClr val="2B5797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4160520" y="4654296"/>
            <a:ext cx="233172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492240" y="4983480"/>
            <a:ext cx="594360" cy="0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7086600" y="4507992"/>
            <a:ext cx="0" cy="950976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7086600" y="4507992"/>
            <a:ext cx="640080" cy="0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7086600" y="5458968"/>
            <a:ext cx="640080" cy="0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7726680" y="4233672"/>
            <a:ext cx="306324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7726680" y="4233672"/>
            <a:ext cx="306324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ゼロトラスト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726680" y="5184648"/>
            <a:ext cx="306324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7726680" y="5184648"/>
            <a:ext cx="306324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運用監視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40080" y="6144768"/>
            <a:ext cx="10908792" cy="457200"/>
          </a:xfrm>
          <a:prstGeom prst="roundRect">
            <a:avLst>
              <a:gd name="adj" fmla="val 120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640080" y="6144768"/>
            <a:ext cx="10908792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使う場面：分類の枝分かれ／メニュー構成／要素が横に増える展開　|　深い階層でも縦に潰れにくい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purl.oclc.org/ooxml/drawingml/main" xmlns:r="http://purl.oclc.org/ooxml/officeDocument/relationships" xmlns:p="http://purl.oclc.org/ooxml/presentationml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676656" cy="676656"/>
          </a:xfrm>
          <a:prstGeom prst="roundRect">
            <a:avLst>
              <a:gd name="adj" fmla="val 13514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676656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81328" y="457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ロジックツリー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99616" y="969264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LOGIC — 課題をMECEに分解し、打ち手まで落とし込む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2331720" cy="914400"/>
          </a:xfrm>
          <a:prstGeom prst="roundRect">
            <a:avLst>
              <a:gd name="adj" fmla="val 7000"/>
            </a:avLst>
          </a:prstGeom>
          <a:solidFill>
            <a:srgbClr val="1593B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233172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売上を伸ばす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063240" y="3429000"/>
            <a:ext cx="457200" cy="0"/>
          </a:xfrm>
          <a:prstGeom prst="line">
            <a:avLst/>
          </a:prstGeom>
          <a:noFill/>
          <a:ln w="25400">
            <a:solidFill>
              <a:srgbClr val="1593B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520440" y="2148840"/>
            <a:ext cx="0" cy="2468880"/>
          </a:xfrm>
          <a:prstGeom prst="line">
            <a:avLst/>
          </a:prstGeom>
          <a:noFill/>
          <a:ln w="25400">
            <a:solidFill>
              <a:srgbClr val="1593B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520440" y="2148840"/>
            <a:ext cx="594360" cy="0"/>
          </a:xfrm>
          <a:prstGeom prst="line">
            <a:avLst/>
          </a:prstGeom>
          <a:noFill/>
          <a:ln w="25400">
            <a:solidFill>
              <a:srgbClr val="1593B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3520440" y="4617720"/>
            <a:ext cx="594360" cy="0"/>
          </a:xfrm>
          <a:prstGeom prst="line">
            <a:avLst/>
          </a:prstGeom>
          <a:noFill/>
          <a:ln w="25400">
            <a:solidFill>
              <a:srgbClr val="1593B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114800" y="1783080"/>
            <a:ext cx="26060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22225">
            <a:solidFill>
              <a:srgbClr val="1593B8"/>
            </a:solidFill>
            <a:prstDash val="solid"/>
          </a:ln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114800" y="1783080"/>
            <a:ext cx="26060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客数を増やす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20840" y="2148840"/>
            <a:ext cx="548640" cy="0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7269480" y="1581912"/>
            <a:ext cx="0" cy="1133856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7269480" y="1581912"/>
            <a:ext cx="594360" cy="0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7269480" y="2715768"/>
            <a:ext cx="594360" cy="0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7863840" y="1280160"/>
            <a:ext cx="2926080" cy="603504"/>
          </a:xfrm>
          <a:prstGeom prst="roundRect">
            <a:avLst>
              <a:gd name="adj" fmla="val 10606"/>
            </a:avLst>
          </a:prstGeom>
          <a:solidFill>
            <a:srgbClr val="14233A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7863840" y="1280160"/>
            <a:ext cx="2926080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新規獲得を強化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63840" y="2414016"/>
            <a:ext cx="2926080" cy="603504"/>
          </a:xfrm>
          <a:prstGeom prst="roundRect">
            <a:avLst>
              <a:gd name="adj" fmla="val 10606"/>
            </a:avLst>
          </a:prstGeom>
          <a:solidFill>
            <a:srgbClr val="14233A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7863840" y="2414016"/>
            <a:ext cx="2926080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解約率を下げる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0" y="4251960"/>
            <a:ext cx="26060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22225">
            <a:solidFill>
              <a:srgbClr val="1593B8"/>
            </a:solidFill>
            <a:prstDash val="solid"/>
          </a:ln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4114800" y="4251960"/>
            <a:ext cx="26060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客単価を上げる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720840" y="4617720"/>
            <a:ext cx="548640" cy="0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7269480" y="4050792"/>
            <a:ext cx="0" cy="1133856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7269480" y="4050792"/>
            <a:ext cx="594360" cy="0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7269480" y="5184648"/>
            <a:ext cx="594360" cy="0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7863840" y="3749040"/>
            <a:ext cx="2926080" cy="603504"/>
          </a:xfrm>
          <a:prstGeom prst="roundRect">
            <a:avLst>
              <a:gd name="adj" fmla="val 10606"/>
            </a:avLst>
          </a:prstGeom>
          <a:solidFill>
            <a:srgbClr val="14233A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7863840" y="3749040"/>
            <a:ext cx="2926080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上位プラン訴求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863840" y="4882896"/>
            <a:ext cx="2926080" cy="603504"/>
          </a:xfrm>
          <a:prstGeom prst="roundRect">
            <a:avLst>
              <a:gd name="adj" fmla="val 10606"/>
            </a:avLst>
          </a:prstGeom>
          <a:solidFill>
            <a:srgbClr val="14233A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7863840" y="4882896"/>
            <a:ext cx="2926080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クロスセル拡大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6144768"/>
            <a:ext cx="10908792" cy="457200"/>
          </a:xfrm>
          <a:prstGeom prst="roundRect">
            <a:avLst>
              <a:gd name="adj" fmla="val 120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640080" y="6144768"/>
            <a:ext cx="10908792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使う場面：課題分解／要因分析／施策立案　|　各階層は重複なく・漏れなく(MECE)に分けるのがコツ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purl.oclc.org/ooxml/drawingml/main" xmlns:r="http://purl.oclc.org/ooxml/officeDocument/relationships" xmlns:p="http://purl.oclc.org/ooxml/presentationml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676656" cy="676656"/>
          </a:xfrm>
          <a:prstGeom prst="roundRect">
            <a:avLst>
              <a:gd name="adj" fmla="val 13514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676656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81328" y="457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インデント型ツリー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99616" y="969264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INDENTED — 字下げで多階層を省スペースに表現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640080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097280" y="203454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344168" y="187452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事業戦略 2026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1197864" y="2103120"/>
            <a:ext cx="0" cy="457200"/>
          </a:xfrm>
          <a:prstGeom prst="line">
            <a:avLst/>
          </a:prstGeom>
          <a:noFill/>
          <a:ln w="1651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1197864" y="2560320"/>
            <a:ext cx="384048" cy="0"/>
          </a:xfrm>
          <a:prstGeom prst="line">
            <a:avLst/>
          </a:prstGeom>
          <a:noFill/>
          <a:ln w="1651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1664208" y="249174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1911096" y="2331720"/>
            <a:ext cx="5285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製品開発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764792" y="2560320"/>
            <a:ext cx="0" cy="457200"/>
          </a:xfrm>
          <a:prstGeom prst="line">
            <a:avLst/>
          </a:prstGeom>
          <a:noFill/>
          <a:ln w="1651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1764792" y="3017520"/>
            <a:ext cx="384048" cy="0"/>
          </a:xfrm>
          <a:prstGeom prst="line">
            <a:avLst/>
          </a:prstGeom>
          <a:noFill/>
          <a:ln w="1651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2231136" y="294894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AEBFD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2478024" y="2788920"/>
            <a:ext cx="4718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新機能ロードマップ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764792" y="3017520"/>
            <a:ext cx="0" cy="457200"/>
          </a:xfrm>
          <a:prstGeom prst="line">
            <a:avLst/>
          </a:prstGeom>
          <a:noFill/>
          <a:ln w="1651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1764792" y="3474720"/>
            <a:ext cx="384048" cy="0"/>
          </a:xfrm>
          <a:prstGeom prst="line">
            <a:avLst/>
          </a:prstGeom>
          <a:noFill/>
          <a:ln w="1651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2231136" y="340614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AEBFD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2478024" y="3246120"/>
            <a:ext cx="4718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UX 改善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197864" y="3474720"/>
            <a:ext cx="0" cy="457200"/>
          </a:xfrm>
          <a:prstGeom prst="line">
            <a:avLst/>
          </a:prstGeom>
          <a:noFill/>
          <a:ln w="1651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1197864" y="3931920"/>
            <a:ext cx="384048" cy="0"/>
          </a:xfrm>
          <a:prstGeom prst="line">
            <a:avLst/>
          </a:prstGeom>
          <a:noFill/>
          <a:ln w="1651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1664208" y="386334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1911096" y="3703320"/>
            <a:ext cx="5285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マーケティング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764792" y="3931920"/>
            <a:ext cx="0" cy="457200"/>
          </a:xfrm>
          <a:prstGeom prst="line">
            <a:avLst/>
          </a:prstGeom>
          <a:noFill/>
          <a:ln w="1651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1764792" y="4389120"/>
            <a:ext cx="384048" cy="0"/>
          </a:xfrm>
          <a:prstGeom prst="line">
            <a:avLst/>
          </a:prstGeom>
          <a:noFill/>
          <a:ln w="1651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2231136" y="432054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AEBFD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2478024" y="4160520"/>
            <a:ext cx="4718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デジタル広告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764792" y="4389120"/>
            <a:ext cx="0" cy="457200"/>
          </a:xfrm>
          <a:prstGeom prst="line">
            <a:avLst/>
          </a:prstGeom>
          <a:noFill/>
          <a:ln w="1651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1764792" y="4846320"/>
            <a:ext cx="384048" cy="0"/>
          </a:xfrm>
          <a:prstGeom prst="line">
            <a:avLst/>
          </a:prstGeom>
          <a:noFill/>
          <a:ln w="1651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2231136" y="477774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AEBFD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2478024" y="4617720"/>
            <a:ext cx="4718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SNS / コミュニティ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1197864" y="4846320"/>
            <a:ext cx="0" cy="457200"/>
          </a:xfrm>
          <a:prstGeom prst="line">
            <a:avLst/>
          </a:prstGeom>
          <a:noFill/>
          <a:ln w="1651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1197864" y="5303520"/>
            <a:ext cx="384048" cy="0"/>
          </a:xfrm>
          <a:prstGeom prst="line">
            <a:avLst/>
          </a:prstGeom>
          <a:noFill/>
          <a:ln w="1651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1664208" y="523494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1911096" y="5074920"/>
            <a:ext cx="5285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組織・採用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360920" y="1737360"/>
            <a:ext cx="4187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インデント型の特徴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7360920" y="2240280"/>
            <a:ext cx="4187952" cy="1024128"/>
          </a:xfrm>
          <a:prstGeom prst="roundRect">
            <a:avLst>
              <a:gd name="adj" fmla="val 6250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7562088" y="249631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7562088" y="2496312"/>
            <a:ext cx="512064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275320" y="2386584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省スペースで多階層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8275320" y="2752344"/>
            <a:ext cx="3090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横幅を取らず、5〜6階層でも収まる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360920" y="3447288"/>
            <a:ext cx="4187952" cy="1024128"/>
          </a:xfrm>
          <a:prstGeom prst="roundRect">
            <a:avLst>
              <a:gd name="adj" fmla="val 6250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2"/>
          <p:cNvSpPr/>
          <p:nvPr/>
        </p:nvSpPr>
        <p:spPr>
          <a:xfrm>
            <a:off x="7562088" y="370332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7562088" y="3703320"/>
            <a:ext cx="512064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275320" y="3593592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目次・サイトマップ向き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8275320" y="3959352"/>
            <a:ext cx="3090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資料構成やWBSの一覧表示に最適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360920" y="4654296"/>
            <a:ext cx="4187952" cy="1024128"/>
          </a:xfrm>
          <a:prstGeom prst="roundRect">
            <a:avLst>
              <a:gd name="adj" fmla="val 6250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9" name="Shape 47"/>
          <p:cNvSpPr/>
          <p:nvPr/>
        </p:nvSpPr>
        <p:spPr>
          <a:xfrm>
            <a:off x="7562088" y="491032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0" name="Text 48"/>
          <p:cNvSpPr/>
          <p:nvPr/>
        </p:nvSpPr>
        <p:spPr>
          <a:xfrm>
            <a:off x="7562088" y="4910328"/>
            <a:ext cx="512064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275320" y="4800600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追加・編集が容易</a:t>
            </a:r>
            <a:endParaRPr lang="en-US" sz="1450" dirty="0"/>
          </a:p>
        </p:txBody>
      </p:sp>
      <p:sp>
        <p:nvSpPr>
          <p:cNvPr id="52" name="Text 50"/>
          <p:cNvSpPr/>
          <p:nvPr/>
        </p:nvSpPr>
        <p:spPr>
          <a:xfrm>
            <a:off x="8275320" y="5166360"/>
            <a:ext cx="3090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行を足すだけで構造を更新できる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40080" y="6144768"/>
            <a:ext cx="10908792" cy="457200"/>
          </a:xfrm>
          <a:prstGeom prst="roundRect">
            <a:avLst>
              <a:gd name="adj" fmla="val 120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4" name="Text 52"/>
          <p:cNvSpPr/>
          <p:nvPr/>
        </p:nvSpPr>
        <p:spPr>
          <a:xfrm>
            <a:off x="640080" y="6144768"/>
            <a:ext cx="10908792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使う場面：目次／サイトマップ／WBS／ディレクトリ構成　|　字下げと細い罫線で階層を示す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purl.oclc.org/ooxml/drawingml/main" xmlns:r="http://purl.oclc.org/ooxml/officeDocument/relationships" xmlns:p="http://purl.oclc.org/ooxml/presentationml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676656" cy="676656"/>
          </a:xfrm>
          <a:prstGeom prst="roundRect">
            <a:avLst>
              <a:gd name="adj" fmla="val 13514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676656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81328" y="457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意思決定ツリー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99616" y="969264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DECISION — 条件分岐で判断の流れを可視化する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2971800"/>
            <a:ext cx="1737360" cy="73152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173736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課題発生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063240" y="2697480"/>
            <a:ext cx="2103120" cy="1280160"/>
          </a:xfrm>
          <a:prstGeom prst="diamond">
            <a:avLst/>
          </a:prstGeom>
          <a:solidFill>
            <a:srgbClr val="E0922F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2971800" y="26974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%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条件を</a:t>
            </a:r>
            <a:endParaRPr lang="en-US" sz="1300" dirty="0"/>
          </a:p>
          <a:p>
            <a:pPr marL="0" indent="0" algn="ctr">
              <a:lnSpc>
                <a:spcPct val="90%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満たす？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23160" y="3337560"/>
            <a:ext cx="640080" cy="0"/>
          </a:xfrm>
          <a:prstGeom prst="line">
            <a:avLst/>
          </a:prstGeom>
          <a:noFill/>
          <a:ln w="25400">
            <a:solidFill>
              <a:srgbClr val="6B7A90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6400800" y="1417320"/>
            <a:ext cx="2468880" cy="777240"/>
          </a:xfrm>
          <a:prstGeom prst="roundRect">
            <a:avLst>
              <a:gd name="adj" fmla="val 8235"/>
            </a:avLst>
          </a:prstGeom>
          <a:solidFill>
            <a:srgbClr val="1FA98F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6400800" y="1417320"/>
            <a:ext cx="246888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対応A を即実行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0" y="1801368"/>
            <a:ext cx="0" cy="896112"/>
          </a:xfrm>
          <a:prstGeom prst="line">
            <a:avLst/>
          </a:prstGeom>
          <a:noFill/>
          <a:ln w="25400">
            <a:solidFill>
              <a:srgbClr val="1FA98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4114800" y="1801368"/>
            <a:ext cx="2286000" cy="0"/>
          </a:xfrm>
          <a:prstGeom prst="line">
            <a:avLst/>
          </a:prstGeom>
          <a:noFill/>
          <a:ln w="25400">
            <a:solidFill>
              <a:srgbClr val="1FA98F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206240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0" y="3977640"/>
            <a:ext cx="0" cy="1188720"/>
          </a:xfrm>
          <a:prstGeom prst="line">
            <a:avLst/>
          </a:prstGeom>
          <a:noFill/>
          <a:ln w="25400">
            <a:solidFill>
              <a:srgbClr val="6B7A9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4023360" y="5166360"/>
            <a:ext cx="91440" cy="0"/>
          </a:xfrm>
          <a:prstGeom prst="line">
            <a:avLst/>
          </a:prstGeom>
          <a:noFill/>
          <a:ln w="25400">
            <a:solidFill>
              <a:srgbClr val="6B7A90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4224528" y="4114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53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023360" y="4526280"/>
            <a:ext cx="2103120" cy="1280160"/>
          </a:xfrm>
          <a:prstGeom prst="diamond">
            <a:avLst/>
          </a:prstGeom>
          <a:solidFill>
            <a:srgbClr val="2B5797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931920" y="45262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%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代替条件？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98080" y="4617720"/>
            <a:ext cx="2468880" cy="749808"/>
          </a:xfrm>
          <a:prstGeom prst="roundRect">
            <a:avLst>
              <a:gd name="adj" fmla="val 8537"/>
            </a:avLst>
          </a:prstGeom>
          <a:solidFill>
            <a:srgbClr val="1FA98F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7498080" y="4617720"/>
            <a:ext cx="2468880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対応B を実行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26480" y="5166360"/>
            <a:ext cx="1371600" cy="0"/>
          </a:xfrm>
          <a:prstGeom prst="line">
            <a:avLst/>
          </a:prstGeom>
          <a:noFill/>
          <a:ln w="25400">
            <a:solidFill>
              <a:srgbClr val="1FA98F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6172200" y="4846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74920" y="5806440"/>
            <a:ext cx="0" cy="82296"/>
          </a:xfrm>
          <a:prstGeom prst="line">
            <a:avLst/>
          </a:prstGeom>
          <a:noFill/>
          <a:ln w="25400">
            <a:solidFill>
              <a:srgbClr val="6B7A9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5074920" y="5888736"/>
            <a:ext cx="2423160" cy="0"/>
          </a:xfrm>
          <a:prstGeom prst="line">
            <a:avLst/>
          </a:prstGeom>
          <a:noFill/>
          <a:ln w="25400">
            <a:solidFill>
              <a:srgbClr val="6B7A90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7498080" y="5532120"/>
            <a:ext cx="24688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6B7A90"/>
            </a:solidFill>
            <a:prstDash val="solid"/>
          </a:ln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7498080" y="5532120"/>
            <a:ext cx="246888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30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保留・再検討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84648" y="5852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53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148132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使う場面：条件分岐／判断基準／フローチャート　|　ひし形＝判断、矢印に Yes / No を明記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purl.oclc.org/ooxml/drawingml/main" xmlns:r="http://purl.oclc.org/ooxml/officeDocument/relationships" xmlns:p="http://purl.oclc.org/ooxml/presentationml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676656" cy="676656"/>
          </a:xfrm>
          <a:prstGeom prst="roundRect">
            <a:avLst>
              <a:gd name="adj" fmla="val 13514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676656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81328" y="457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マインドマップ型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99616" y="969264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RADIAL — 中心から放射状に発想を広げる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2148840"/>
            <a:ext cx="2849728" cy="1737360"/>
          </a:xfrm>
          <a:prstGeom prst="line">
            <a:avLst/>
          </a:prstGeom>
          <a:noFill/>
          <a:ln w="28575">
            <a:solidFill>
              <a:srgbClr val="2B579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 flipH="1">
            <a:off x="6095848" y="2148840"/>
            <a:ext cx="2846984" cy="1737360"/>
          </a:xfrm>
          <a:prstGeom prst="line">
            <a:avLst/>
          </a:prstGeom>
          <a:noFill/>
          <a:ln w="28575">
            <a:solidFill>
              <a:srgbClr val="1593B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 flipH="1">
            <a:off x="2148840" y="3886200"/>
            <a:ext cx="3947008" cy="0"/>
          </a:xfrm>
          <a:prstGeom prst="line">
            <a:avLst/>
          </a:prstGeom>
          <a:noFill/>
          <a:ln w="28575">
            <a:solidFill>
              <a:srgbClr val="1FA98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6095848" y="3886200"/>
            <a:ext cx="3944264" cy="0"/>
          </a:xfrm>
          <a:prstGeom prst="line">
            <a:avLst/>
          </a:prstGeom>
          <a:noFill/>
          <a:ln w="28575">
            <a:solidFill>
              <a:srgbClr val="E092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 flipH="1">
            <a:off x="3246120" y="3886200"/>
            <a:ext cx="2849728" cy="1645920"/>
          </a:xfrm>
          <a:prstGeom prst="line">
            <a:avLst/>
          </a:prstGeom>
          <a:noFill/>
          <a:ln w="28575">
            <a:solidFill>
              <a:srgbClr val="C853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6095848" y="3886200"/>
            <a:ext cx="2846984" cy="1645920"/>
          </a:xfrm>
          <a:prstGeom prst="line">
            <a:avLst/>
          </a:prstGeom>
          <a:noFill/>
          <a:ln w="28575">
            <a:solidFill>
              <a:srgbClr val="6C5C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2171700" y="1819656"/>
            <a:ext cx="2148840" cy="658368"/>
          </a:xfrm>
          <a:prstGeom prst="roundRect">
            <a:avLst>
              <a:gd name="adj" fmla="val 50000"/>
            </a:avLst>
          </a:prstGeom>
          <a:solidFill>
            <a:srgbClr val="2B5797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2171700" y="1819656"/>
            <a:ext cx="214884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市場調査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868412" y="1819656"/>
            <a:ext cx="2148840" cy="658368"/>
          </a:xfrm>
          <a:prstGeom prst="roundRect">
            <a:avLst>
              <a:gd name="adj" fmla="val 50000"/>
            </a:avLst>
          </a:prstGeom>
          <a:solidFill>
            <a:srgbClr val="1593B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7868412" y="1819656"/>
            <a:ext cx="214884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技術検証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74420" y="3557016"/>
            <a:ext cx="2148840" cy="658368"/>
          </a:xfrm>
          <a:prstGeom prst="roundRect">
            <a:avLst>
              <a:gd name="adj" fmla="val 50000"/>
            </a:avLst>
          </a:prstGeom>
          <a:solidFill>
            <a:srgbClr val="1FA98F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1074420" y="3557016"/>
            <a:ext cx="214884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資金計画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965692" y="3557016"/>
            <a:ext cx="2148840" cy="658368"/>
          </a:xfrm>
          <a:prstGeom prst="roundRect">
            <a:avLst>
              <a:gd name="adj" fmla="val 50000"/>
            </a:avLst>
          </a:prstGeom>
          <a:solidFill>
            <a:srgbClr val="E0922F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8965692" y="3557016"/>
            <a:ext cx="214884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体制構築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2171700" y="5202936"/>
            <a:ext cx="2148840" cy="658368"/>
          </a:xfrm>
          <a:prstGeom prst="roundRect">
            <a:avLst>
              <a:gd name="adj" fmla="val 50000"/>
            </a:avLst>
          </a:prstGeom>
          <a:solidFill>
            <a:srgbClr val="C8536B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2171700" y="5202936"/>
            <a:ext cx="214884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提携先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868412" y="5202936"/>
            <a:ext cx="2148840" cy="658368"/>
          </a:xfrm>
          <a:prstGeom prst="roundRect">
            <a:avLst>
              <a:gd name="adj" fmla="val 50000"/>
            </a:avLst>
          </a:prstGeom>
          <a:solidFill>
            <a:srgbClr val="6C5CA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7868412" y="5202936"/>
            <a:ext cx="214884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ローンチ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044288" y="3406140"/>
            <a:ext cx="2103120" cy="960120"/>
          </a:xfrm>
          <a:prstGeom prst="roundRect">
            <a:avLst>
              <a:gd name="adj" fmla="val 47619"/>
            </a:avLst>
          </a:prstGeom>
          <a:solidFill>
            <a:srgbClr val="14233A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5044288" y="3406140"/>
            <a:ext cx="2103120" cy="9601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新規事業</a:t>
            </a:r>
            <a:endParaRPr lang="en-US" sz="1500" dirty="0"/>
          </a:p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立ち上げ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148132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使う場面：アイデア発想／全体俯瞰／関連づけ　|　中心テーマを置き、枝ごとに色を変えると見やすい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purl.oclc.org/ooxml/drawingml/main" xmlns:r="http://purl.oclc.org/ooxml/officeDocument/relationships" xmlns:p="http://purl.oclc.org/ooxml/presentationml/main">
  <p:cSld name="Slide 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676656" cy="676656"/>
          </a:xfrm>
          <a:prstGeom prst="roundRect">
            <a:avLst>
              <a:gd name="adj" fmla="val 13514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676656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81328" y="457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ピラミッド階層ツリー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99616" y="969264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PYRAMID — 抽象度・優先順位を段で表す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23160" y="1783080"/>
            <a:ext cx="2377440" cy="960120"/>
          </a:xfrm>
          <a:prstGeom prst="trapezoid">
            <a:avLst/>
          </a:prstGeom>
          <a:solidFill>
            <a:srgbClr val="14233A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2423160" y="17830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ビジョン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783080" y="2889504"/>
            <a:ext cx="3657600" cy="960120"/>
          </a:xfrm>
          <a:prstGeom prst="trapezoid">
            <a:avLst/>
          </a:prstGeom>
          <a:solidFill>
            <a:srgbClr val="2B5797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1783080" y="2889504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143000" y="3995928"/>
            <a:ext cx="4937760" cy="960120"/>
          </a:xfrm>
          <a:prstGeom prst="trapezoid">
            <a:avLst/>
          </a:prstGeom>
          <a:solidFill>
            <a:srgbClr val="1593B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1143000" y="3995928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5102352"/>
            <a:ext cx="6217920" cy="960120"/>
          </a:xfrm>
          <a:prstGeom prst="trapezoid">
            <a:avLst/>
          </a:prstGeom>
          <a:solidFill>
            <a:srgbClr val="1FA98F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02920" y="5102352"/>
            <a:ext cx="6217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040880" y="2116836"/>
            <a:ext cx="292608" cy="292608"/>
          </a:xfrm>
          <a:prstGeom prst="ellipse">
            <a:avLst/>
          </a:prstGeom>
          <a:solidFill>
            <a:srgbClr val="1423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7498080" y="185623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ビジョン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98080" y="225856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目指す姿・存在意義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40880" y="3223260"/>
            <a:ext cx="292608" cy="292608"/>
          </a:xfrm>
          <a:prstGeom prst="ellipse">
            <a:avLst/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498080" y="296265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98080" y="336499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勝ち方の方向性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40880" y="4329684"/>
            <a:ext cx="292608" cy="292608"/>
          </a:xfrm>
          <a:prstGeom prst="ellipse">
            <a:avLst/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7498080" y="40690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98080" y="447141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具体的なアプローチ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40880" y="5436108"/>
            <a:ext cx="292608" cy="292608"/>
          </a:xfrm>
          <a:prstGeom prst="ellipse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7498080" y="517550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98080" y="55778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日々のアクション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6144768"/>
            <a:ext cx="10908792" cy="457200"/>
          </a:xfrm>
          <a:prstGeom prst="roundRect">
            <a:avLst>
              <a:gd name="adj" fmla="val 120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640080" y="6144768"/>
            <a:ext cx="10908792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使う場面：優先順位／抽象度の階層／戦略の構造　|　上ほど概念的、下ほど具体的に並べる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purl.oclc.org/ooxml/drawingml/main" xmlns:r="http://purl.oclc.org/ooxml/officeDocument/relationships" xmlns:p="http://purl.oclc.org/ooxml/presentationml/main">
  <p:cSld name="Slide 10"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DESIGN TIPS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きれいなツリー図 5つのコツ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914400" y="2075688"/>
            <a:ext cx="713232" cy="713232"/>
          </a:xfrm>
          <a:prstGeom prst="roundRect">
            <a:avLst>
              <a:gd name="adj" fmla="val 12821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14400" y="2075688"/>
            <a:ext cx="713232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47088" y="20574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階層は3〜4まで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847088" y="2587752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%"/>
              </a:lnSpc>
              <a:buNone/>
            </a:pPr>
            <a:r>
              <a:rPr lang="en-US" sz="1250" dirty="0">
                <a:solidFill>
                  <a:srgbClr val="B7C7E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深くしすぎない。多階層はインデント型で省スペースに。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91072" y="178308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6565392" y="2075688"/>
            <a:ext cx="713232" cy="713232"/>
          </a:xfrm>
          <a:prstGeom prst="roundRect">
            <a:avLst>
              <a:gd name="adj" fmla="val 12821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6565392" y="2075688"/>
            <a:ext cx="713232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98080" y="20574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同じ階層は揃える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0" y="2587752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%"/>
              </a:lnSpc>
              <a:buNone/>
            </a:pPr>
            <a:r>
              <a:rPr lang="en-US" sz="1250" dirty="0">
                <a:solidFill>
                  <a:srgbClr val="B7C7E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同レベルのノードはサイズ・色・余白を統一する。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914400" y="4178808"/>
            <a:ext cx="713232" cy="713232"/>
          </a:xfrm>
          <a:prstGeom prst="roundRect">
            <a:avLst>
              <a:gd name="adj" fmla="val 12821"/>
            </a:avLst>
          </a:prstGeom>
          <a:solidFill>
            <a:srgbClr val="4A7BC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914400" y="4178808"/>
            <a:ext cx="713232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847088" y="416052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線は直角・最短で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847088" y="4690872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%"/>
              </a:lnSpc>
              <a:buNone/>
            </a:pPr>
            <a:r>
              <a:rPr lang="en-US" sz="1250" dirty="0">
                <a:solidFill>
                  <a:srgbClr val="B7C7E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コネクタは曲げず、交差を避けて最短距離で結ぶ。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91072" y="388620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6565392" y="4178808"/>
            <a:ext cx="713232" cy="713232"/>
          </a:xfrm>
          <a:prstGeom prst="roundRect">
            <a:avLst>
              <a:gd name="adj" fmla="val 12821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565392" y="4178808"/>
            <a:ext cx="713232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98080" y="416052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色は1系統＋1色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498080" y="4690872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%"/>
              </a:lnSpc>
              <a:buNone/>
            </a:pPr>
            <a:r>
              <a:rPr lang="en-US" sz="1250" dirty="0">
                <a:solidFill>
                  <a:srgbClr val="B7C7E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ベース1系統にアクセント1色。使いすぎは禁物。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8DA4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シンプルな構造ほど、伝わるツリーになります。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purl.oclc.org/ooxml/drawingml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lumMod val="110%"/>
                <a:satMod val="105%"/>
                <a:tint val="67%"/>
              </a:schemeClr>
            </a:gs>
            <a:gs pos="50%">
              <a:schemeClr val="phClr">
                <a:lumMod val="105%"/>
                <a:satMod val="103%"/>
                <a:tint val="73%"/>
              </a:schemeClr>
            </a:gs>
            <a:gs pos="100%">
              <a:schemeClr val="phClr">
                <a:lumMod val="105%"/>
                <a:satMod val="109%"/>
                <a:tint val="81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satMod val="103%"/>
                <a:lumMod val="102%"/>
                <a:tint val="94%"/>
              </a:schemeClr>
            </a:gs>
            <a:gs pos="50%">
              <a:schemeClr val="phClr">
                <a:satMod val="110%"/>
                <a:lumMod val="100%"/>
                <a:shade val="100%"/>
              </a:schemeClr>
            </a:gs>
            <a:gs pos="100%">
              <a:schemeClr val="phClr">
                <a:lumMod val="99%"/>
                <a:satMod val="120%"/>
                <a:shade val="78%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%"/>
        </a:ln>
        <a:ln w="12700" cap="flat" cmpd="sng" algn="ctr">
          <a:solidFill>
            <a:schemeClr val="phClr"/>
          </a:solidFill>
          <a:prstDash val="solid"/>
          <a:miter lim="800%"/>
        </a:ln>
        <a:ln w="19050" cap="flat" cmpd="sng" algn="ctr">
          <a:solidFill>
            <a:schemeClr val="phClr"/>
          </a:solidFill>
          <a:prstDash val="solid"/>
          <a:miter lim="800%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%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atMod val="150%"/>
                <a:shade val="98%"/>
                <a:lumMod val="102%"/>
              </a:schemeClr>
            </a:gs>
            <a:gs pos="50%">
              <a:schemeClr val="phClr">
                <a:tint val="98%"/>
                <a:satMod val="130%"/>
                <a:shade val="9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purl.oclc.org/ooxml/drawingml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lumMod val="110%"/>
                <a:satMod val="105%"/>
                <a:tint val="67%"/>
              </a:schemeClr>
            </a:gs>
            <a:gs pos="50%">
              <a:schemeClr val="phClr">
                <a:lumMod val="105%"/>
                <a:satMod val="103%"/>
                <a:tint val="73%"/>
              </a:schemeClr>
            </a:gs>
            <a:gs pos="100%">
              <a:schemeClr val="phClr">
                <a:lumMod val="105%"/>
                <a:satMod val="109%"/>
                <a:tint val="81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satMod val="103%"/>
                <a:lumMod val="102%"/>
                <a:tint val="94%"/>
              </a:schemeClr>
            </a:gs>
            <a:gs pos="50%">
              <a:schemeClr val="phClr">
                <a:satMod val="110%"/>
                <a:lumMod val="100%"/>
                <a:shade val="100%"/>
              </a:schemeClr>
            </a:gs>
            <a:gs pos="100%">
              <a:schemeClr val="phClr">
                <a:lumMod val="99%"/>
                <a:satMod val="120%"/>
                <a:shade val="78%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%"/>
        </a:ln>
        <a:ln w="12700" cap="flat" cmpd="sng" algn="ctr">
          <a:solidFill>
            <a:schemeClr val="phClr"/>
          </a:solidFill>
          <a:prstDash val="solid"/>
          <a:miter lim="800%"/>
        </a:ln>
        <a:ln w="19050" cap="flat" cmpd="sng" algn="ctr">
          <a:solidFill>
            <a:schemeClr val="phClr"/>
          </a:solidFill>
          <a:prstDash val="solid"/>
          <a:miter lim="800%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%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atMod val="150%"/>
                <a:shade val="98%"/>
                <a:lumMod val="102%"/>
              </a:schemeClr>
            </a:gs>
            <a:gs pos="50%">
              <a:schemeClr val="phClr">
                <a:tint val="98%"/>
                <a:satMod val="130%"/>
                <a:shade val="9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purl.oclc.org/ooxml/officeDocument/extendedProperties" xmlns:vt="http://purl.oclc.org/ooxml/officeDocument/docPropsVTypes">
  <TotalTime>9</TotalTime>
  <Words>388</Words>
  <Application>Microsoft Office PowerPoint</Application>
  <PresentationFormat>Widescreen</PresentationFormat>
  <Paragraphs>166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Yu Gothic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Shuji Ishii</cp:lastModifiedBy>
  <cp:revision>4</cp:revision>
  <dcterms:created xsi:type="dcterms:W3CDTF">2026-06-23T10:25:15Z</dcterms:created>
  <dcterms:modified xsi:type="dcterms:W3CDTF">2026-06-23T10:48:43Z</dcterms:modified>
</cp:coreProperties>
</file>