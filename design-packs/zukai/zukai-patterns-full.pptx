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purl.oclc.org/ooxml/officeDocument/relationships/extendedProperties" Target="docProps/app.xml"/><Relationship Id="rId2" Type="http://schemas.openxmlformats.org/package/2006/relationships/metadata/core-properties" Target="docProps/core.xml"/><Relationship Id="rId1" Type="http://purl.oclc.org/ooxml/officeDocument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autoCompressPictures="0" conformance="strict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 horzBarState="maximized">
    <p:restoredLeft sz="15.61%"/>
    <p:restoredTop sz="94.61%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purl.oclc.org/ooxml/officeDocument/relationships/slide" Target="slides/slide25.xml"/><Relationship Id="rId21" Type="http://purl.oclc.org/ooxml/officeDocument/relationships/slide" Target="slides/slide20.xml"/><Relationship Id="rId42" Type="http://purl.oclc.org/ooxml/officeDocument/relationships/slide" Target="slides/slide41.xml"/><Relationship Id="rId47" Type="http://purl.oclc.org/ooxml/officeDocument/relationships/slide" Target="slides/slide46.xml"/><Relationship Id="rId63" Type="http://purl.oclc.org/ooxml/officeDocument/relationships/slide" Target="slides/slide62.xml"/><Relationship Id="rId68" Type="http://purl.oclc.org/ooxml/officeDocument/relationships/slide" Target="slides/slide67.xml"/><Relationship Id="rId84" Type="http://purl.oclc.org/ooxml/officeDocument/relationships/slide" Target="slides/slide83.xml"/><Relationship Id="rId89" Type="http://purl.oclc.org/ooxml/officeDocument/relationships/slide" Target="slides/slide88.xml"/><Relationship Id="rId16" Type="http://purl.oclc.org/ooxml/officeDocument/relationships/slide" Target="slides/slide15.xml"/><Relationship Id="rId11" Type="http://purl.oclc.org/ooxml/officeDocument/relationships/slide" Target="slides/slide10.xml"/><Relationship Id="rId32" Type="http://purl.oclc.org/ooxml/officeDocument/relationships/slide" Target="slides/slide31.xml"/><Relationship Id="rId37" Type="http://purl.oclc.org/ooxml/officeDocument/relationships/slide" Target="slides/slide36.xml"/><Relationship Id="rId53" Type="http://purl.oclc.org/ooxml/officeDocument/relationships/slide" Target="slides/slide52.xml"/><Relationship Id="rId58" Type="http://purl.oclc.org/ooxml/officeDocument/relationships/slide" Target="slides/slide57.xml"/><Relationship Id="rId74" Type="http://purl.oclc.org/ooxml/officeDocument/relationships/slide" Target="slides/slide73.xml"/><Relationship Id="rId79" Type="http://purl.oclc.org/ooxml/officeDocument/relationships/slide" Target="slides/slide78.xml"/><Relationship Id="rId102" Type="http://purl.oclc.org/ooxml/officeDocument/relationships/presProps" Target="presProps.xml"/><Relationship Id="rId5" Type="http://purl.oclc.org/ooxml/officeDocument/relationships/slide" Target="slides/slide4.xml"/><Relationship Id="rId90" Type="http://purl.oclc.org/ooxml/officeDocument/relationships/slide" Target="slides/slide89.xml"/><Relationship Id="rId95" Type="http://purl.oclc.org/ooxml/officeDocument/relationships/slide" Target="slides/slide94.xml"/><Relationship Id="rId22" Type="http://purl.oclc.org/ooxml/officeDocument/relationships/slide" Target="slides/slide21.xml"/><Relationship Id="rId27" Type="http://purl.oclc.org/ooxml/officeDocument/relationships/slide" Target="slides/slide26.xml"/><Relationship Id="rId43" Type="http://purl.oclc.org/ooxml/officeDocument/relationships/slide" Target="slides/slide42.xml"/><Relationship Id="rId48" Type="http://purl.oclc.org/ooxml/officeDocument/relationships/slide" Target="slides/slide47.xml"/><Relationship Id="rId64" Type="http://purl.oclc.org/ooxml/officeDocument/relationships/slide" Target="slides/slide63.xml"/><Relationship Id="rId69" Type="http://purl.oclc.org/ooxml/officeDocument/relationships/slide" Target="slides/slide68.xml"/><Relationship Id="rId80" Type="http://purl.oclc.org/ooxml/officeDocument/relationships/slide" Target="slides/slide79.xml"/><Relationship Id="rId85" Type="http://purl.oclc.org/ooxml/officeDocument/relationships/slide" Target="slides/slide84.xml"/><Relationship Id="rId12" Type="http://purl.oclc.org/ooxml/officeDocument/relationships/slide" Target="slides/slide11.xml"/><Relationship Id="rId17" Type="http://purl.oclc.org/ooxml/officeDocument/relationships/slide" Target="slides/slide16.xml"/><Relationship Id="rId33" Type="http://purl.oclc.org/ooxml/officeDocument/relationships/slide" Target="slides/slide32.xml"/><Relationship Id="rId38" Type="http://purl.oclc.org/ooxml/officeDocument/relationships/slide" Target="slides/slide37.xml"/><Relationship Id="rId59" Type="http://purl.oclc.org/ooxml/officeDocument/relationships/slide" Target="slides/slide58.xml"/><Relationship Id="rId103" Type="http://purl.oclc.org/ooxml/officeDocument/relationships/viewProps" Target="viewProps.xml"/><Relationship Id="rId20" Type="http://purl.oclc.org/ooxml/officeDocument/relationships/slide" Target="slides/slide19.xml"/><Relationship Id="rId41" Type="http://purl.oclc.org/ooxml/officeDocument/relationships/slide" Target="slides/slide40.xml"/><Relationship Id="rId54" Type="http://purl.oclc.org/ooxml/officeDocument/relationships/slide" Target="slides/slide53.xml"/><Relationship Id="rId62" Type="http://purl.oclc.org/ooxml/officeDocument/relationships/slide" Target="slides/slide61.xml"/><Relationship Id="rId70" Type="http://purl.oclc.org/ooxml/officeDocument/relationships/slide" Target="slides/slide69.xml"/><Relationship Id="rId75" Type="http://purl.oclc.org/ooxml/officeDocument/relationships/slide" Target="slides/slide74.xml"/><Relationship Id="rId83" Type="http://purl.oclc.org/ooxml/officeDocument/relationships/slide" Target="slides/slide82.xml"/><Relationship Id="rId88" Type="http://purl.oclc.org/ooxml/officeDocument/relationships/slide" Target="slides/slide87.xml"/><Relationship Id="rId91" Type="http://purl.oclc.org/ooxml/officeDocument/relationships/slide" Target="slides/slide90.xml"/><Relationship Id="rId96" Type="http://purl.oclc.org/ooxml/officeDocument/relationships/slide" Target="slides/slide95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5" Type="http://purl.oclc.org/ooxml/officeDocument/relationships/slide" Target="slides/slide14.xml"/><Relationship Id="rId23" Type="http://purl.oclc.org/ooxml/officeDocument/relationships/slide" Target="slides/slide22.xml"/><Relationship Id="rId28" Type="http://purl.oclc.org/ooxml/officeDocument/relationships/slide" Target="slides/slide27.xml"/><Relationship Id="rId36" Type="http://purl.oclc.org/ooxml/officeDocument/relationships/slide" Target="slides/slide35.xml"/><Relationship Id="rId49" Type="http://purl.oclc.org/ooxml/officeDocument/relationships/slide" Target="slides/slide48.xml"/><Relationship Id="rId57" Type="http://purl.oclc.org/ooxml/officeDocument/relationships/slide" Target="slides/slide56.xml"/><Relationship Id="rId106" Type="http://schemas.microsoft.com/office/2016/11/relationships/changesInfo" Target="changesInfos/changesInfo1.xml"/><Relationship Id="rId10" Type="http://purl.oclc.org/ooxml/officeDocument/relationships/slide" Target="slides/slide9.xml"/><Relationship Id="rId31" Type="http://purl.oclc.org/ooxml/officeDocument/relationships/slide" Target="slides/slide30.xml"/><Relationship Id="rId44" Type="http://purl.oclc.org/ooxml/officeDocument/relationships/slide" Target="slides/slide43.xml"/><Relationship Id="rId52" Type="http://purl.oclc.org/ooxml/officeDocument/relationships/slide" Target="slides/slide51.xml"/><Relationship Id="rId60" Type="http://purl.oclc.org/ooxml/officeDocument/relationships/slide" Target="slides/slide59.xml"/><Relationship Id="rId65" Type="http://purl.oclc.org/ooxml/officeDocument/relationships/slide" Target="slides/slide64.xml"/><Relationship Id="rId73" Type="http://purl.oclc.org/ooxml/officeDocument/relationships/slide" Target="slides/slide72.xml"/><Relationship Id="rId78" Type="http://purl.oclc.org/ooxml/officeDocument/relationships/slide" Target="slides/slide77.xml"/><Relationship Id="rId81" Type="http://purl.oclc.org/ooxml/officeDocument/relationships/slide" Target="slides/slide80.xml"/><Relationship Id="rId86" Type="http://purl.oclc.org/ooxml/officeDocument/relationships/slide" Target="slides/slide85.xml"/><Relationship Id="rId94" Type="http://purl.oclc.org/ooxml/officeDocument/relationships/slide" Target="slides/slide93.xml"/><Relationship Id="rId99" Type="http://purl.oclc.org/ooxml/officeDocument/relationships/slide" Target="slides/slide98.xml"/><Relationship Id="rId101" Type="http://purl.oclc.org/ooxml/officeDocument/relationships/notesMaster" Target="notesMasters/notesMaster1.xml"/><Relationship Id="rId4" Type="http://purl.oclc.org/ooxml/officeDocument/relationships/slide" Target="slides/slide3.xml"/><Relationship Id="rId9" Type="http://purl.oclc.org/ooxml/officeDocument/relationships/slide" Target="slides/slide8.xml"/><Relationship Id="rId13" Type="http://purl.oclc.org/ooxml/officeDocument/relationships/slide" Target="slides/slide12.xml"/><Relationship Id="rId18" Type="http://purl.oclc.org/ooxml/officeDocument/relationships/slide" Target="slides/slide17.xml"/><Relationship Id="rId39" Type="http://purl.oclc.org/ooxml/officeDocument/relationships/slide" Target="slides/slide38.xml"/><Relationship Id="rId34" Type="http://purl.oclc.org/ooxml/officeDocument/relationships/slide" Target="slides/slide33.xml"/><Relationship Id="rId50" Type="http://purl.oclc.org/ooxml/officeDocument/relationships/slide" Target="slides/slide49.xml"/><Relationship Id="rId55" Type="http://purl.oclc.org/ooxml/officeDocument/relationships/slide" Target="slides/slide54.xml"/><Relationship Id="rId76" Type="http://purl.oclc.org/ooxml/officeDocument/relationships/slide" Target="slides/slide75.xml"/><Relationship Id="rId97" Type="http://purl.oclc.org/ooxml/officeDocument/relationships/slide" Target="slides/slide96.xml"/><Relationship Id="rId104" Type="http://purl.oclc.org/ooxml/officeDocument/relationships/theme" Target="theme/theme1.xml"/><Relationship Id="rId7" Type="http://purl.oclc.org/ooxml/officeDocument/relationships/slide" Target="slides/slide6.xml"/><Relationship Id="rId71" Type="http://purl.oclc.org/ooxml/officeDocument/relationships/slide" Target="slides/slide70.xml"/><Relationship Id="rId92" Type="http://purl.oclc.org/ooxml/officeDocument/relationships/slide" Target="slides/slide91.xml"/><Relationship Id="rId2" Type="http://purl.oclc.org/ooxml/officeDocument/relationships/slide" Target="slides/slide1.xml"/><Relationship Id="rId29" Type="http://purl.oclc.org/ooxml/officeDocument/relationships/slide" Target="slides/slide28.xml"/><Relationship Id="rId24" Type="http://purl.oclc.org/ooxml/officeDocument/relationships/slide" Target="slides/slide23.xml"/><Relationship Id="rId40" Type="http://purl.oclc.org/ooxml/officeDocument/relationships/slide" Target="slides/slide39.xml"/><Relationship Id="rId45" Type="http://purl.oclc.org/ooxml/officeDocument/relationships/slide" Target="slides/slide44.xml"/><Relationship Id="rId66" Type="http://purl.oclc.org/ooxml/officeDocument/relationships/slide" Target="slides/slide65.xml"/><Relationship Id="rId87" Type="http://purl.oclc.org/ooxml/officeDocument/relationships/slide" Target="slides/slide86.xml"/><Relationship Id="rId61" Type="http://purl.oclc.org/ooxml/officeDocument/relationships/slide" Target="slides/slide60.xml"/><Relationship Id="rId82" Type="http://purl.oclc.org/ooxml/officeDocument/relationships/slide" Target="slides/slide81.xml"/><Relationship Id="rId19" Type="http://purl.oclc.org/ooxml/officeDocument/relationships/slide" Target="slides/slide18.xml"/><Relationship Id="rId14" Type="http://purl.oclc.org/ooxml/officeDocument/relationships/slide" Target="slides/slide13.xml"/><Relationship Id="rId30" Type="http://purl.oclc.org/ooxml/officeDocument/relationships/slide" Target="slides/slide29.xml"/><Relationship Id="rId35" Type="http://purl.oclc.org/ooxml/officeDocument/relationships/slide" Target="slides/slide34.xml"/><Relationship Id="rId56" Type="http://purl.oclc.org/ooxml/officeDocument/relationships/slide" Target="slides/slide55.xml"/><Relationship Id="rId77" Type="http://purl.oclc.org/ooxml/officeDocument/relationships/slide" Target="slides/slide76.xml"/><Relationship Id="rId100" Type="http://purl.oclc.org/ooxml/officeDocument/relationships/slide" Target="slides/slide99.xml"/><Relationship Id="rId105" Type="http://purl.oclc.org/ooxml/officeDocument/relationships/tableStyles" Target="tableStyles.xml"/><Relationship Id="rId8" Type="http://purl.oclc.org/ooxml/officeDocument/relationships/slide" Target="slides/slide7.xml"/><Relationship Id="rId51" Type="http://purl.oclc.org/ooxml/officeDocument/relationships/slide" Target="slides/slide50.xml"/><Relationship Id="rId72" Type="http://purl.oclc.org/ooxml/officeDocument/relationships/slide" Target="slides/slide71.xml"/><Relationship Id="rId93" Type="http://purl.oclc.org/ooxml/officeDocument/relationships/slide" Target="slides/slide92.xml"/><Relationship Id="rId98" Type="http://purl.oclc.org/ooxml/officeDocument/relationships/slide" Target="slides/slide97.xml"/><Relationship Id="rId3" Type="http://purl.oclc.org/ooxml/officeDocument/relationships/slide" Target="slides/slide2.xml"/><Relationship Id="rId25" Type="http://purl.oclc.org/ooxml/officeDocument/relationships/slide" Target="slides/slide24.xml"/><Relationship Id="rId46" Type="http://purl.oclc.org/ooxml/officeDocument/relationships/slide" Target="slides/slide45.xml"/><Relationship Id="rId67" Type="http://purl.oclc.org/ooxml/officeDocument/relationships/slide" Target="slides/slide66.xml"/></Relationships>
</file>

<file path=ppt/changesInfos/changesInfo1.xml><?xml version="1.0" encoding="utf-8"?>
<pc:chgInfo xmlns:a="http://purl.oclc.org/ooxml/drawingml/main" xmlns:r="http://purl.oclc.org/ooxml/officeDocument/relationships" xmlns:ac="http://schemas.microsoft.com/office/drawing/2013/main/command" xmlns:pc="http://schemas.microsoft.com/office/powerpoint/2013/main/command">
  <pc:docChgLst>
    <pc:chgData name="Shuji Ishii" userId="c8d207af318c1c0e" providerId="LiveId" clId="{FE60B005-BE82-4E38-B48F-E20033C188EB}"/>
    <pc:docChg chg="undo custSel modSld">
      <pc:chgData name="Shuji Ishii" userId="c8d207af318c1c0e" providerId="LiveId" clId="{FE60B005-BE82-4E38-B48F-E20033C188EB}" dt="2026-06-23T14:30:10.831" v="92" actId="478"/>
      <pc:docMkLst>
        <pc:docMk/>
      </pc:docMkLst>
      <pc:sldChg chg="modSp mod">
        <pc:chgData name="Shuji Ishii" userId="c8d207af318c1c0e" providerId="LiveId" clId="{FE60B005-BE82-4E38-B48F-E20033C188EB}" dt="2026-06-23T14:28:09.596" v="8" actId="1035"/>
        <pc:sldMkLst>
          <pc:docMk/>
          <pc:sldMk cId="0" sldId="262"/>
        </pc:sldMkLst>
        <pc:spChg chg="mod">
          <ac:chgData name="Shuji Ishii" userId="c8d207af318c1c0e" providerId="LiveId" clId="{FE60B005-BE82-4E38-B48F-E20033C188EB}" dt="2026-06-23T14:28:09.596" v="8" actId="1035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09.596" v="8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09.596" v="8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09.596" v="8" actId="103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09.596" v="8" actId="1035"/>
          <ac:spMkLst>
            <pc:docMk/>
            <pc:sldMk cId="0" sldId="262"/>
            <ac:spMk id="20" creationId="{00000000-0000-0000-0000-000000000000}"/>
          </ac:spMkLst>
        </pc:spChg>
      </pc:sldChg>
      <pc:sldChg chg="modSp mod">
        <pc:chgData name="Shuji Ishii" userId="c8d207af318c1c0e" providerId="LiveId" clId="{FE60B005-BE82-4E38-B48F-E20033C188EB}" dt="2026-06-23T14:28:49.332" v="21" actId="1036"/>
        <pc:sldMkLst>
          <pc:docMk/>
          <pc:sldMk cId="0" sldId="269"/>
        </pc:sldMkLst>
        <pc:spChg chg="mod">
          <ac:chgData name="Shuji Ishii" userId="c8d207af318c1c0e" providerId="LiveId" clId="{FE60B005-BE82-4E38-B48F-E20033C188EB}" dt="2026-06-23T14:28:49.332" v="21" actId="10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49.332" v="21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49.332" v="21" actId="10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8:49.332" v="21" actId="1036"/>
          <ac:spMkLst>
            <pc:docMk/>
            <pc:sldMk cId="0" sldId="269"/>
            <ac:spMk id="16" creationId="{00000000-0000-0000-0000-000000000000}"/>
          </ac:spMkLst>
        </pc:spChg>
      </pc:sldChg>
      <pc:sldChg chg="modSp mod">
        <pc:chgData name="Shuji Ishii" userId="c8d207af318c1c0e" providerId="LiveId" clId="{FE60B005-BE82-4E38-B48F-E20033C188EB}" dt="2026-06-23T14:29:40.341" v="89" actId="1037"/>
        <pc:sldMkLst>
          <pc:docMk/>
          <pc:sldMk cId="0" sldId="273"/>
        </pc:sldMkLst>
        <pc:spChg chg="mod">
          <ac:chgData name="Shuji Ishii" userId="c8d207af318c1c0e" providerId="LiveId" clId="{FE60B005-BE82-4E38-B48F-E20033C188EB}" dt="2026-06-23T14:29:22.588" v="57" actId="1038"/>
          <ac:spMkLst>
            <pc:docMk/>
            <pc:sldMk cId="0" sldId="273"/>
            <ac:spMk id="6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9:22.588" v="57" actId="1038"/>
          <ac:spMkLst>
            <pc:docMk/>
            <pc:sldMk cId="0" sldId="273"/>
            <ac:spMk id="7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9:40.341" v="89" actId="1037"/>
          <ac:spMkLst>
            <pc:docMk/>
            <pc:sldMk cId="0" sldId="273"/>
            <ac:spMk id="8" creationId="{00000000-0000-0000-0000-000000000000}"/>
          </ac:spMkLst>
        </pc:spChg>
        <pc:spChg chg="mod">
          <ac:chgData name="Shuji Ishii" userId="c8d207af318c1c0e" providerId="LiveId" clId="{FE60B005-BE82-4E38-B48F-E20033C188EB}" dt="2026-06-23T14:29:40.341" v="89" actId="1037"/>
          <ac:spMkLst>
            <pc:docMk/>
            <pc:sldMk cId="0" sldId="273"/>
            <ac:spMk id="9" creationId="{00000000-0000-0000-0000-000000000000}"/>
          </ac:spMkLst>
        </pc:spChg>
      </pc:sldChg>
      <pc:sldChg chg="delSp modSp mod">
        <pc:chgData name="Shuji Ishii" userId="c8d207af318c1c0e" providerId="LiveId" clId="{FE60B005-BE82-4E38-B48F-E20033C188EB}" dt="2026-06-23T14:30:10.831" v="92" actId="478"/>
        <pc:sldMkLst>
          <pc:docMk/>
          <pc:sldMk cId="0" sldId="275"/>
        </pc:sldMkLst>
        <pc:spChg chg="del">
          <ac:chgData name="Shuji Ishii" userId="c8d207af318c1c0e" providerId="LiveId" clId="{FE60B005-BE82-4E38-B48F-E20033C188EB}" dt="2026-06-23T14:30:10.831" v="92" actId="478"/>
          <ac:spMkLst>
            <pc:docMk/>
            <pc:sldMk cId="0" sldId="275"/>
            <ac:spMk id="7" creationId="{00000000-0000-0000-0000-000000000000}"/>
          </ac:spMkLst>
        </pc:spChg>
        <pc:spChg chg="del">
          <ac:chgData name="Shuji Ishii" userId="c8d207af318c1c0e" providerId="LiveId" clId="{FE60B005-BE82-4E38-B48F-E20033C188EB}" dt="2026-06-23T14:30:10.831" v="92" actId="478"/>
          <ac:spMkLst>
            <pc:docMk/>
            <pc:sldMk cId="0" sldId="275"/>
            <ac:spMk id="8" creationId="{00000000-0000-0000-0000-000000000000}"/>
          </ac:spMkLst>
        </pc:spChg>
        <pc:spChg chg="del">
          <ac:chgData name="Shuji Ishii" userId="c8d207af318c1c0e" providerId="LiveId" clId="{FE60B005-BE82-4E38-B48F-E20033C188EB}" dt="2026-06-23T14:30:10.831" v="92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Shuji Ishii" userId="c8d207af318c1c0e" providerId="LiveId" clId="{FE60B005-BE82-4E38-B48F-E20033C188EB}" dt="2026-06-23T14:30:10.831" v="92" actId="478"/>
          <ac:spMkLst>
            <pc:docMk/>
            <pc:sldMk cId="0" sldId="275"/>
            <ac:spMk id="10" creationId="{00000000-0000-0000-0000-000000000000}"/>
          </ac:spMkLst>
        </pc:spChg>
        <pc:spChg chg="del mod">
          <ac:chgData name="Shuji Ishii" userId="c8d207af318c1c0e" providerId="LiveId" clId="{FE60B005-BE82-4E38-B48F-E20033C188EB}" dt="2026-06-23T14:30:10.831" v="92" actId="478"/>
          <ac:spMkLst>
            <pc:docMk/>
            <pc:sldMk cId="0" sldId="275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purl.oclc.org/ooxml/officeDocument/relationships/slide" Target="../slides/slide6.xml"/><Relationship Id="rId1" Type="http://purl.oclc.org/ooxml/officeDocument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purl.oclc.org/ooxml/officeDocument/relationships/slide" Target="../slides/slide7.xml"/><Relationship Id="rId1" Type="http://purl.oclc.org/ooxml/officeDocument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purl.oclc.org/ooxml/officeDocument/relationships/slide" Target="../slides/slide8.xml"/><Relationship Id="rId1" Type="http://purl.oclc.org/ooxml/officeDocument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purl.oclc.org/ooxml/officeDocument/relationships/slide" Target="../slides/slide9.xml"/><Relationship Id="rId1" Type="http://purl.oclc.org/ooxml/officeDocument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purl.oclc.org/ooxml/officeDocument/relationships/slide" Target="../slides/slide10.xml"/><Relationship Id="rId1" Type="http://purl.oclc.org/ooxml/officeDocument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purl.oclc.org/ooxml/officeDocument/relationships/slide" Target="../slides/slide11.xml"/><Relationship Id="rId1" Type="http://purl.oclc.org/ooxml/officeDocument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purl.oclc.org/ooxml/officeDocument/relationships/slide" Target="../slides/slide12.xml"/><Relationship Id="rId1" Type="http://purl.oclc.org/ooxml/officeDocument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purl.oclc.org/ooxml/officeDocument/relationships/slide" Target="../slides/slide13.xml"/><Relationship Id="rId1" Type="http://purl.oclc.org/ooxml/officeDocument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purl.oclc.org/ooxml/officeDocument/relationships/slide" Target="../slides/slide14.xml"/><Relationship Id="rId1" Type="http://purl.oclc.org/ooxml/officeDocument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purl.oclc.org/ooxml/officeDocument/relationships/slide" Target="../slides/slide15.xml"/><Relationship Id="rId1" Type="http://purl.oclc.org/ooxml/officeDocument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purl.oclc.org/ooxml/officeDocument/relationships/slide" Target="../slides/slide16.xml"/><Relationship Id="rId1" Type="http://purl.oclc.org/ooxml/officeDocument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purl.oclc.org/ooxml/officeDocument/relationships/slide" Target="../slides/slide17.xml"/><Relationship Id="rId1" Type="http://purl.oclc.org/ooxml/officeDocument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purl.oclc.org/ooxml/officeDocument/relationships/slide" Target="../slides/slide18.xml"/><Relationship Id="rId1" Type="http://purl.oclc.org/ooxml/officeDocument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purl.oclc.org/ooxml/officeDocument/relationships/slide" Target="../slides/slide19.xml"/><Relationship Id="rId1" Type="http://purl.oclc.org/ooxml/officeDocument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purl.oclc.org/ooxml/officeDocument/relationships/slide" Target="../slides/slide20.xml"/><Relationship Id="rId1" Type="http://purl.oclc.org/ooxml/officeDocument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purl.oclc.org/ooxml/officeDocument/relationships/slide" Target="../slides/slide21.xml"/><Relationship Id="rId1" Type="http://purl.oclc.org/ooxml/officeDocument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purl.oclc.org/ooxml/officeDocument/relationships/slide" Target="../slides/slide22.xml"/><Relationship Id="rId1" Type="http://purl.oclc.org/ooxml/officeDocument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purl.oclc.org/ooxml/officeDocument/relationships/slide" Target="../slides/slide23.xml"/><Relationship Id="rId1" Type="http://purl.oclc.org/ooxml/officeDocument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purl.oclc.org/ooxml/officeDocument/relationships/slide" Target="../slides/slide24.xml"/><Relationship Id="rId1" Type="http://purl.oclc.org/ooxml/officeDocument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purl.oclc.org/ooxml/officeDocument/relationships/slide" Target="../slides/slide25.xml"/><Relationship Id="rId1" Type="http://purl.oclc.org/ooxml/officeDocument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purl.oclc.org/ooxml/officeDocument/relationships/slide" Target="../slides/slide26.xml"/><Relationship Id="rId1" Type="http://purl.oclc.org/ooxml/officeDocument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purl.oclc.org/ooxml/officeDocument/relationships/slide" Target="../slides/slide27.xml"/><Relationship Id="rId1" Type="http://purl.oclc.org/ooxml/officeDocument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purl.oclc.org/ooxml/officeDocument/relationships/slide" Target="../slides/slide28.xml"/><Relationship Id="rId1" Type="http://purl.oclc.org/ooxml/officeDocument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purl.oclc.org/ooxml/officeDocument/relationships/slide" Target="../slides/slide29.xml"/><Relationship Id="rId1" Type="http://purl.oclc.org/ooxml/officeDocument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purl.oclc.org/ooxml/officeDocument/relationships/slide" Target="../slides/slide30.xml"/><Relationship Id="rId1" Type="http://purl.oclc.org/ooxml/officeDocument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purl.oclc.org/ooxml/officeDocument/relationships/slide" Target="../slides/slide31.xml"/><Relationship Id="rId1" Type="http://purl.oclc.org/ooxml/officeDocument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purl.oclc.org/ooxml/officeDocument/relationships/slide" Target="../slides/slide32.xml"/><Relationship Id="rId1" Type="http://purl.oclc.org/ooxml/officeDocument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purl.oclc.org/ooxml/officeDocument/relationships/slide" Target="../slides/slide33.xml"/><Relationship Id="rId1" Type="http://purl.oclc.org/ooxml/officeDocument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purl.oclc.org/ooxml/officeDocument/relationships/slide" Target="../slides/slide34.xml"/><Relationship Id="rId1" Type="http://purl.oclc.org/ooxml/officeDocument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purl.oclc.org/ooxml/officeDocument/relationships/slide" Target="../slides/slide35.xml"/><Relationship Id="rId1" Type="http://purl.oclc.org/ooxml/officeDocument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purl.oclc.org/ooxml/officeDocument/relationships/slide" Target="../slides/slide36.xml"/><Relationship Id="rId1" Type="http://purl.oclc.org/ooxml/officeDocument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purl.oclc.org/ooxml/officeDocument/relationships/slide" Target="../slides/slide37.xml"/><Relationship Id="rId1" Type="http://purl.oclc.org/ooxml/officeDocument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purl.oclc.org/ooxml/officeDocument/relationships/slide" Target="../slides/slide38.xml"/><Relationship Id="rId1" Type="http://purl.oclc.org/ooxml/officeDocument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purl.oclc.org/ooxml/officeDocument/relationships/slide" Target="../slides/slide39.xml"/><Relationship Id="rId1" Type="http://purl.oclc.org/ooxml/officeDocument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purl.oclc.org/ooxml/officeDocument/relationships/slide" Target="../slides/slide40.xml"/><Relationship Id="rId1" Type="http://purl.oclc.org/ooxml/officeDocument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purl.oclc.org/ooxml/officeDocument/relationships/slide" Target="../slides/slide41.xml"/><Relationship Id="rId1" Type="http://purl.oclc.org/ooxml/officeDocument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purl.oclc.org/ooxml/officeDocument/relationships/slide" Target="../slides/slide42.xml"/><Relationship Id="rId1" Type="http://purl.oclc.org/ooxml/officeDocument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purl.oclc.org/ooxml/officeDocument/relationships/slide" Target="../slides/slide43.xml"/><Relationship Id="rId1" Type="http://purl.oclc.org/ooxml/officeDocument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purl.oclc.org/ooxml/officeDocument/relationships/slide" Target="../slides/slide44.xml"/><Relationship Id="rId1" Type="http://purl.oclc.org/ooxml/officeDocument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purl.oclc.org/ooxml/officeDocument/relationships/slide" Target="../slides/slide45.xml"/><Relationship Id="rId1" Type="http://purl.oclc.org/ooxml/officeDocument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purl.oclc.org/ooxml/officeDocument/relationships/slide" Target="../slides/slide46.xml"/><Relationship Id="rId1" Type="http://purl.oclc.org/ooxml/officeDocument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purl.oclc.org/ooxml/officeDocument/relationships/slide" Target="../slides/slide47.xml"/><Relationship Id="rId1" Type="http://purl.oclc.org/ooxml/officeDocument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purl.oclc.org/ooxml/officeDocument/relationships/slide" Target="../slides/slide48.xml"/><Relationship Id="rId1" Type="http://purl.oclc.org/ooxml/officeDocument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purl.oclc.org/ooxml/officeDocument/relationships/slide" Target="../slides/slide49.xml"/><Relationship Id="rId1" Type="http://purl.oclc.org/ooxml/officeDocument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purl.oclc.org/ooxml/officeDocument/relationships/slide" Target="../slides/slide50.xml"/><Relationship Id="rId1" Type="http://purl.oclc.org/ooxml/officeDocument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purl.oclc.org/ooxml/officeDocument/relationships/slide" Target="../slides/slide51.xml"/><Relationship Id="rId1" Type="http://purl.oclc.org/ooxml/officeDocument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purl.oclc.org/ooxml/officeDocument/relationships/slide" Target="../slides/slide52.xml"/><Relationship Id="rId1" Type="http://purl.oclc.org/ooxml/officeDocument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purl.oclc.org/ooxml/officeDocument/relationships/slide" Target="../slides/slide53.xml"/><Relationship Id="rId1" Type="http://purl.oclc.org/ooxml/officeDocument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purl.oclc.org/ooxml/officeDocument/relationships/slide" Target="../slides/slide54.xml"/><Relationship Id="rId1" Type="http://purl.oclc.org/ooxml/officeDocument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purl.oclc.org/ooxml/officeDocument/relationships/slide" Target="../slides/slide55.xml"/><Relationship Id="rId1" Type="http://purl.oclc.org/ooxml/officeDocument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purl.oclc.org/ooxml/officeDocument/relationships/slide" Target="../slides/slide56.xml"/><Relationship Id="rId1" Type="http://purl.oclc.org/ooxml/officeDocument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purl.oclc.org/ooxml/officeDocument/relationships/slide" Target="../slides/slide57.xml"/><Relationship Id="rId1" Type="http://purl.oclc.org/ooxml/officeDocument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purl.oclc.org/ooxml/officeDocument/relationships/slide" Target="../slides/slide58.xml"/><Relationship Id="rId1" Type="http://purl.oclc.org/ooxml/officeDocument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purl.oclc.org/ooxml/officeDocument/relationships/slide" Target="../slides/slide59.xml"/><Relationship Id="rId1" Type="http://purl.oclc.org/ooxml/officeDocument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purl.oclc.org/ooxml/officeDocument/relationships/slide" Target="../slides/slide60.xml"/><Relationship Id="rId1" Type="http://purl.oclc.org/ooxml/officeDocument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purl.oclc.org/ooxml/officeDocument/relationships/slide" Target="../slides/slide61.xml"/><Relationship Id="rId1" Type="http://purl.oclc.org/ooxml/officeDocument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purl.oclc.org/ooxml/officeDocument/relationships/slide" Target="../slides/slide62.xml"/><Relationship Id="rId1" Type="http://purl.oclc.org/ooxml/officeDocument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purl.oclc.org/ooxml/officeDocument/relationships/slide" Target="../slides/slide63.xml"/><Relationship Id="rId1" Type="http://purl.oclc.org/ooxml/officeDocument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purl.oclc.org/ooxml/officeDocument/relationships/slide" Target="../slides/slide64.xml"/><Relationship Id="rId1" Type="http://purl.oclc.org/ooxml/officeDocument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purl.oclc.org/ooxml/officeDocument/relationships/slide" Target="../slides/slide65.xml"/><Relationship Id="rId1" Type="http://purl.oclc.org/ooxml/officeDocument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purl.oclc.org/ooxml/officeDocument/relationships/slide" Target="../slides/slide66.xml"/><Relationship Id="rId1" Type="http://purl.oclc.org/ooxml/officeDocument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purl.oclc.org/ooxml/officeDocument/relationships/slide" Target="../slides/slide67.xml"/><Relationship Id="rId1" Type="http://purl.oclc.org/ooxml/officeDocument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purl.oclc.org/ooxml/officeDocument/relationships/slide" Target="../slides/slide68.xml"/><Relationship Id="rId1" Type="http://purl.oclc.org/ooxml/officeDocument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purl.oclc.org/ooxml/officeDocument/relationships/slide" Target="../slides/slide69.xml"/><Relationship Id="rId1" Type="http://purl.oclc.org/ooxml/officeDocument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purl.oclc.org/ooxml/officeDocument/relationships/slide" Target="../slides/slide70.xml"/><Relationship Id="rId1" Type="http://purl.oclc.org/ooxml/officeDocument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purl.oclc.org/ooxml/officeDocument/relationships/slide" Target="../slides/slide71.xml"/><Relationship Id="rId1" Type="http://purl.oclc.org/ooxml/officeDocument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purl.oclc.org/ooxml/officeDocument/relationships/slide" Target="../slides/slide72.xml"/><Relationship Id="rId1" Type="http://purl.oclc.org/ooxml/officeDocument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purl.oclc.org/ooxml/officeDocument/relationships/slide" Target="../slides/slide73.xml"/><Relationship Id="rId1" Type="http://purl.oclc.org/ooxml/officeDocument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purl.oclc.org/ooxml/officeDocument/relationships/slide" Target="../slides/slide74.xml"/><Relationship Id="rId1" Type="http://purl.oclc.org/ooxml/officeDocument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purl.oclc.org/ooxml/officeDocument/relationships/slide" Target="../slides/slide75.xml"/><Relationship Id="rId1" Type="http://purl.oclc.org/ooxml/officeDocument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purl.oclc.org/ooxml/officeDocument/relationships/slide" Target="../slides/slide76.xml"/><Relationship Id="rId1" Type="http://purl.oclc.org/ooxml/officeDocument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purl.oclc.org/ooxml/officeDocument/relationships/slide" Target="../slides/slide77.xml"/><Relationship Id="rId1" Type="http://purl.oclc.org/ooxml/officeDocument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purl.oclc.org/ooxml/officeDocument/relationships/slide" Target="../slides/slide78.xml"/><Relationship Id="rId1" Type="http://purl.oclc.org/ooxml/officeDocument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purl.oclc.org/ooxml/officeDocument/relationships/slide" Target="../slides/slide79.xml"/><Relationship Id="rId1" Type="http://purl.oclc.org/ooxml/officeDocument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purl.oclc.org/ooxml/officeDocument/relationships/slide" Target="../slides/slide80.xml"/><Relationship Id="rId1" Type="http://purl.oclc.org/ooxml/officeDocument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purl.oclc.org/ooxml/officeDocument/relationships/slide" Target="../slides/slide81.xml"/><Relationship Id="rId1" Type="http://purl.oclc.org/ooxml/officeDocument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purl.oclc.org/ooxml/officeDocument/relationships/slide" Target="../slides/slide82.xml"/><Relationship Id="rId1" Type="http://purl.oclc.org/ooxml/officeDocument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purl.oclc.org/ooxml/officeDocument/relationships/slide" Target="../slides/slide83.xml"/><Relationship Id="rId1" Type="http://purl.oclc.org/ooxml/officeDocument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purl.oclc.org/ooxml/officeDocument/relationships/slide" Target="../slides/slide84.xml"/><Relationship Id="rId1" Type="http://purl.oclc.org/ooxml/officeDocument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purl.oclc.org/ooxml/officeDocument/relationships/slide" Target="../slides/slide85.xml"/><Relationship Id="rId1" Type="http://purl.oclc.org/ooxml/officeDocument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purl.oclc.org/ooxml/officeDocument/relationships/slide" Target="../slides/slide86.xml"/><Relationship Id="rId1" Type="http://purl.oclc.org/ooxml/officeDocument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purl.oclc.org/ooxml/officeDocument/relationships/slide" Target="../slides/slide87.xml"/><Relationship Id="rId1" Type="http://purl.oclc.org/ooxml/officeDocument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purl.oclc.org/ooxml/officeDocument/relationships/slide" Target="../slides/slide88.xml"/><Relationship Id="rId1" Type="http://purl.oclc.org/ooxml/officeDocument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purl.oclc.org/ooxml/officeDocument/relationships/slide" Target="../slides/slide89.xml"/><Relationship Id="rId1" Type="http://purl.oclc.org/ooxml/officeDocument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purl.oclc.org/ooxml/officeDocument/relationships/slide" Target="../slides/slide90.xml"/><Relationship Id="rId1" Type="http://purl.oclc.org/ooxml/officeDocument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purl.oclc.org/ooxml/officeDocument/relationships/slide" Target="../slides/slide91.xml"/><Relationship Id="rId1" Type="http://purl.oclc.org/ooxml/officeDocument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purl.oclc.org/ooxml/officeDocument/relationships/slide" Target="../slides/slide92.xml"/><Relationship Id="rId1" Type="http://purl.oclc.org/ooxml/officeDocument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purl.oclc.org/ooxml/officeDocument/relationships/slide" Target="../slides/slide93.xml"/><Relationship Id="rId1" Type="http://purl.oclc.org/ooxml/officeDocument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purl.oclc.org/ooxml/officeDocument/relationships/slide" Target="../slides/slide94.xml"/><Relationship Id="rId1" Type="http://purl.oclc.org/ooxml/officeDocument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purl.oclc.org/ooxml/officeDocument/relationships/slide" Target="../slides/slide95.xml"/><Relationship Id="rId1" Type="http://purl.oclc.org/ooxml/officeDocument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purl.oclc.org/ooxml/officeDocument/relationships/slide" Target="../slides/slide96.xml"/><Relationship Id="rId1" Type="http://purl.oclc.org/ooxml/officeDocument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purl.oclc.org/ooxml/officeDocument/relationships/slide" Target="../slides/slide97.xml"/><Relationship Id="rId1" Type="http://purl.oclc.org/ooxml/officeDocument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purl.oclc.org/ooxml/officeDocument/relationships/slide" Target="../slides/slide98.xml"/><Relationship Id="rId1" Type="http://purl.oclc.org/ooxml/officeDocument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purl.oclc.org/ooxml/officeDocument/relationships/slide" Target="../slides/slide99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purl.oclc.org/ooxml/officeDocument/relationships/theme" Target="../theme/theme1.xml"/><Relationship Id="rId1" Type="http://purl.oclc.org/ooxml/officeDocument/relationships/slideLayout" Target="../slideLayouts/slideLayout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%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%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%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%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.xml"/><Relationship Id="rId1" Type="http://purl.oclc.org/ooxml/officeDocument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.xml"/><Relationship Id="rId1" Type="http://purl.oclc.org/ooxml/officeDocument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.xml"/><Relationship Id="rId1" Type="http://purl.oclc.org/ooxml/officeDocument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.xml"/><Relationship Id="rId1" Type="http://purl.oclc.org/ooxml/officeDocument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.xml"/><Relationship Id="rId1" Type="http://purl.oclc.org/ooxml/officeDocument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.xml"/><Relationship Id="rId1" Type="http://purl.oclc.org/ooxml/officeDocument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.xml"/><Relationship Id="rId1" Type="http://purl.oclc.org/ooxml/officeDocument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0.xml"/><Relationship Id="rId1" Type="http://purl.oclc.org/ooxml/officeDocument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1.xml"/><Relationship Id="rId1" Type="http://purl.oclc.org/ooxml/officeDocument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2.xml"/><Relationship Id="rId1" Type="http://purl.oclc.org/ooxml/officeDocument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3.xml"/><Relationship Id="rId1" Type="http://purl.oclc.org/ooxml/officeDocument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4.xml"/><Relationship Id="rId1" Type="http://purl.oclc.org/ooxml/officeDocument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5.xml"/><Relationship Id="rId1" Type="http://purl.oclc.org/ooxml/officeDocument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6.xml"/><Relationship Id="rId1" Type="http://purl.oclc.org/ooxml/officeDocument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7.xml"/><Relationship Id="rId1" Type="http://purl.oclc.org/ooxml/officeDocument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8.xml"/><Relationship Id="rId1" Type="http://purl.oclc.org/ooxml/officeDocument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9.xml"/><Relationship Id="rId1" Type="http://purl.oclc.org/ooxml/officeDocument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0.xml"/><Relationship Id="rId1" Type="http://purl.oclc.org/ooxml/officeDocument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1.xml"/><Relationship Id="rId1" Type="http://purl.oclc.org/ooxml/officeDocument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2.xml"/><Relationship Id="rId1" Type="http://purl.oclc.org/ooxml/officeDocument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3.xml"/><Relationship Id="rId1" Type="http://purl.oclc.org/ooxml/officeDocument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4.xml"/><Relationship Id="rId1" Type="http://purl.oclc.org/ooxml/officeDocument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5.xml"/><Relationship Id="rId1" Type="http://purl.oclc.org/ooxml/officeDocument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6.xml"/><Relationship Id="rId1" Type="http://purl.oclc.org/ooxml/officeDocument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7.xml"/><Relationship Id="rId1" Type="http://purl.oclc.org/ooxml/officeDocument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8.xml"/><Relationship Id="rId1" Type="http://purl.oclc.org/ooxml/officeDocument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9.xml"/><Relationship Id="rId1" Type="http://purl.oclc.org/ooxml/officeDocument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0.xml"/><Relationship Id="rId1" Type="http://purl.oclc.org/ooxml/officeDocument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1.xml"/><Relationship Id="rId1" Type="http://purl.oclc.org/ooxml/officeDocument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2.xml"/><Relationship Id="rId1" Type="http://purl.oclc.org/ooxml/officeDocument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3.xml"/><Relationship Id="rId1" Type="http://purl.oclc.org/ooxml/officeDocument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4.xml"/><Relationship Id="rId1" Type="http://purl.oclc.org/ooxml/officeDocument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5.xml"/><Relationship Id="rId1" Type="http://purl.oclc.org/ooxml/officeDocument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6.xml"/><Relationship Id="rId1" Type="http://purl.oclc.org/ooxml/officeDocument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7.xml"/><Relationship Id="rId1" Type="http://purl.oclc.org/ooxml/officeDocument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8.xml"/><Relationship Id="rId1" Type="http://purl.oclc.org/ooxml/officeDocument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9.xml"/><Relationship Id="rId1" Type="http://purl.oclc.org/ooxml/officeDocument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0.xml"/><Relationship Id="rId1" Type="http://purl.oclc.org/ooxml/officeDocument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1.xml"/><Relationship Id="rId1" Type="http://purl.oclc.org/ooxml/officeDocument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2.xml"/><Relationship Id="rId1" Type="http://purl.oclc.org/ooxml/officeDocument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3.xml"/><Relationship Id="rId1" Type="http://purl.oclc.org/ooxml/officeDocument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4.xml"/><Relationship Id="rId1" Type="http://purl.oclc.org/ooxml/officeDocument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5.xml"/><Relationship Id="rId1" Type="http://purl.oclc.org/ooxml/officeDocument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6.xml"/><Relationship Id="rId1" Type="http://purl.oclc.org/ooxml/officeDocument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7.xml"/><Relationship Id="rId1" Type="http://purl.oclc.org/ooxml/officeDocument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8.xml"/><Relationship Id="rId1" Type="http://purl.oclc.org/ooxml/officeDocument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9.xml"/><Relationship Id="rId1" Type="http://purl.oclc.org/ooxml/officeDocument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0.xml"/><Relationship Id="rId1" Type="http://purl.oclc.org/ooxml/officeDocument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1.xml"/><Relationship Id="rId1" Type="http://purl.oclc.org/ooxml/officeDocument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2.xml"/><Relationship Id="rId1" Type="http://purl.oclc.org/ooxml/officeDocument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3.xml"/><Relationship Id="rId1" Type="http://purl.oclc.org/ooxml/officeDocument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4.xml"/><Relationship Id="rId1" Type="http://purl.oclc.org/ooxml/officeDocument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5.xml"/><Relationship Id="rId1" Type="http://purl.oclc.org/ooxml/officeDocument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6.xml"/><Relationship Id="rId1" Type="http://purl.oclc.org/ooxml/officeDocument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7.xml"/><Relationship Id="rId1" Type="http://purl.oclc.org/ooxml/officeDocument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8.xml"/><Relationship Id="rId1" Type="http://purl.oclc.org/ooxml/officeDocument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9.xml"/><Relationship Id="rId1" Type="http://purl.oclc.org/ooxml/officeDocument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0.xml"/><Relationship Id="rId1" Type="http://purl.oclc.org/ooxml/officeDocument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1.xml"/><Relationship Id="rId1" Type="http://purl.oclc.org/ooxml/officeDocument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2.xml"/><Relationship Id="rId1" Type="http://purl.oclc.org/ooxml/officeDocument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3.xml"/><Relationship Id="rId1" Type="http://purl.oclc.org/ooxml/officeDocument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4.xml"/><Relationship Id="rId1" Type="http://purl.oclc.org/ooxml/officeDocument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5.xml"/><Relationship Id="rId1" Type="http://purl.oclc.org/ooxml/officeDocument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6.xml"/><Relationship Id="rId1" Type="http://purl.oclc.org/ooxml/officeDocument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7.xml"/><Relationship Id="rId1" Type="http://purl.oclc.org/ooxml/officeDocument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8.xml"/><Relationship Id="rId1" Type="http://purl.oclc.org/ooxml/officeDocument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9.xml"/><Relationship Id="rId1" Type="http://purl.oclc.org/ooxml/officeDocument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0.xml"/><Relationship Id="rId1" Type="http://purl.oclc.org/ooxml/officeDocument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1.xml"/><Relationship Id="rId1" Type="http://purl.oclc.org/ooxml/officeDocument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2.xml"/><Relationship Id="rId1" Type="http://purl.oclc.org/ooxml/officeDocument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3.xml"/><Relationship Id="rId1" Type="http://purl.oclc.org/ooxml/officeDocument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4.xml"/><Relationship Id="rId1" Type="http://purl.oclc.org/ooxml/officeDocument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5.xml"/><Relationship Id="rId1" Type="http://purl.oclc.org/ooxml/officeDocument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6.xml"/><Relationship Id="rId1" Type="http://purl.oclc.org/ooxml/officeDocument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7.xml"/><Relationship Id="rId1" Type="http://purl.oclc.org/ooxml/officeDocument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8.xml"/><Relationship Id="rId1" Type="http://purl.oclc.org/ooxml/officeDocument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9.xml"/><Relationship Id="rId1" Type="http://purl.oclc.org/ooxml/officeDocument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0.xml"/><Relationship Id="rId1" Type="http://purl.oclc.org/ooxml/officeDocument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1.xml"/><Relationship Id="rId1" Type="http://purl.oclc.org/ooxml/officeDocument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2.xml"/><Relationship Id="rId1" Type="http://purl.oclc.org/ooxml/officeDocument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3.xml"/><Relationship Id="rId1" Type="http://purl.oclc.org/ooxml/officeDocument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4.xml"/><Relationship Id="rId1" Type="http://purl.oclc.org/ooxml/officeDocument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5.xml"/><Relationship Id="rId1" Type="http://purl.oclc.org/ooxml/officeDocument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6.xml"/><Relationship Id="rId1" Type="http://purl.oclc.org/ooxml/officeDocument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7.xml"/><Relationship Id="rId1" Type="http://purl.oclc.org/ooxml/officeDocument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8.xml"/><Relationship Id="rId1" Type="http://purl.oclc.org/ooxml/officeDocument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89.xml"/><Relationship Id="rId1" Type="http://purl.oclc.org/ooxml/officeDocument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0.xml"/><Relationship Id="rId1" Type="http://purl.oclc.org/ooxml/officeDocument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1.xml"/><Relationship Id="rId1" Type="http://purl.oclc.org/ooxml/officeDocument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2.xml"/><Relationship Id="rId1" Type="http://purl.oclc.org/ooxml/officeDocument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3.xml"/><Relationship Id="rId1" Type="http://purl.oclc.org/ooxml/officeDocument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4.xml"/><Relationship Id="rId1" Type="http://purl.oclc.org/ooxml/officeDocument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5.xml"/><Relationship Id="rId1" Type="http://purl.oclc.org/ooxml/officeDocument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6.xml"/><Relationship Id="rId1" Type="http://purl.oclc.org/ooxml/officeDocument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7.xml"/><Relationship Id="rId1" Type="http://purl.oclc.org/ooxml/officeDocument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8.xml"/><Relationship Id="rId1" Type="http://purl.oclc.org/ooxml/officeDocument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99.xml"/><Relationship Id="rId1" Type="http://purl.oclc.org/ooxml/officeDocument/relationships/slideLayout" Target="../slideLayouts/slideLayout1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 name="Slide 1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286000"/>
            <a:ext cx="1188720" cy="0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869680" y="2286000"/>
            <a:ext cx="1188720" cy="0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0" y="2286000"/>
            <a:ext cx="1188720" cy="0"/>
          </a:xfrm>
          <a:prstGeom prst="line">
            <a:avLst/>
          </a:prstGeom>
          <a:noFill/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0" y="2103120"/>
            <a:ext cx="365760" cy="365760"/>
          </a:xfrm>
          <a:prstGeom prst="ellipse">
            <a:avLst/>
          </a:prstGeom>
          <a:solidFill>
            <a:srgbClr val="5BD0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732520" y="2148840"/>
            <a:ext cx="274320" cy="274320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921240" y="2148840"/>
            <a:ext cx="274320" cy="274320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109960" y="2148840"/>
            <a:ext cx="274320" cy="274320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49640" y="3337560"/>
            <a:ext cx="1828800" cy="1828800"/>
          </a:xfrm>
          <a:prstGeom prst="ellipse">
            <a:avLst/>
          </a:prstGeom>
          <a:ln w="19050">
            <a:solidFill>
              <a:srgbClr val="3E5C8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336024" y="3209544"/>
            <a:ext cx="256032" cy="256032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4123944"/>
            <a:ext cx="256032" cy="256032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336024" y="5038344"/>
            <a:ext cx="256032" cy="256032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421624" y="4123944"/>
            <a:ext cx="256032" cy="256032"/>
          </a:xfrm>
          <a:prstGeom prst="ellipse">
            <a:avLst/>
          </a:prstGeom>
          <a:solidFill>
            <a:srgbClr val="3F7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299448" y="4087368"/>
            <a:ext cx="329184" cy="329184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PRESENTATION SCHEMATIC PATTERNS — FULL LIBRARY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21945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図解デザイン大全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77240" y="32918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14種類の図解 × 各5〜7パターン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DA4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フロー・サイクル・マトリクス・ベン図・比較・ステップ・ガント・箇条書き ほか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943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86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参考：Slideland 図解デザイン事例集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7665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81328" y="4572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全14セクション 一覧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99616" y="9601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INDEX — 各図解タイプに 5〜7 のバリエーションを収録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8249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44168" y="166420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フロー（横型）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44168" y="19568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工程・手順を左から右へ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27228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2272284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44168" y="225399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フロー（縦型）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44168" y="25466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プロセスを上から下へ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86207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80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44168" y="284378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44168" y="3136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繰り返す循環・PDCA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4518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451860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44168" y="343357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ビフォーアフター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44168" y="37261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改善前後の対比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04164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85800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44168" y="402336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マトリクス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44168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2軸で分類する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63143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85800" y="4631436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44168" y="461314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ベン図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44168" y="49057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重なり・共通点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522122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85800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44168" y="520293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数式（クロス）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344168" y="54955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要素のかけ合わせ＝成果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168249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355080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13448" y="166420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項目比較図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013448" y="19568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複数案を項目で比較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227228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355080" y="2272284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13448" y="225399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規模比較図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013448" y="25466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大きさ・量の対比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286207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35508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13448" y="284378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階段・ステップ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013448" y="3136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段階的な成長・到達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34518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355080" y="3451860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13448" y="343357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ガントチャート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7013448" y="37261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タスクと期間の計画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404164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355080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13448" y="402336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箇条書き（縦並び）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7013448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要点を縦に整理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55080" y="463143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355080" y="4631436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013448" y="461314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箇条書き（横並び）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7013448" y="49057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並列の要素を横に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55080" y="522122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355080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013448" y="520293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箇条書き（羅列）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7013448" y="54955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多数の項目を一覧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26480" y="1691640"/>
            <a:ext cx="0" cy="4160520"/>
          </a:xfrm>
          <a:prstGeom prst="line">
            <a:avLst/>
          </a:prstGeom>
          <a:noFill/>
          <a:ln w="1587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 name="Slide 3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フロー（横型）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HORIZONTAL 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工程・手順を左から右へ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番号ステップ＋矢印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チェブロン・リボン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円ノードのタイムライン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矢印ブロック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上下交互フロー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セグメントバー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0000" dirty="0"/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フロー（横型）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番号ステップ ＋ 矢印（基本形）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04088" y="27889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  <a:effectLst>
            <a:outerShdw blurRad="63500" dist="31750" dir="5400000" algn="bl" rotWithShape="0">
              <a:srgbClr val="9FB3CC">
                <a:alpha val="32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16736" y="299008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316736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04088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941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ニーズを整理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9464" y="3314700"/>
            <a:ext cx="338328" cy="365760"/>
          </a:xfrm>
          <a:prstGeom prst="rightArrow">
            <a:avLst/>
          </a:prstGeom>
          <a:solidFill>
            <a:srgbClr val="4A7BC8"/>
          </a:solidFill>
          <a:ln/>
          <a:effectLst>
            <a:outerShdw blurRad="76200" dist="25400" dir="5400000" algn="bl" rotWithShape="0">
              <a:srgbClr val="B9C6D9">
                <a:alpha val="28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944368" y="27889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2B5797"/>
          </a:solidFill>
          <a:ln/>
          <a:effectLst>
            <a:outerShdw blurRad="806450000" dist="403225000"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557016" y="299008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557016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44368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35808" y="3941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構成を決める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9744" y="3314700"/>
            <a:ext cx="338328" cy="365760"/>
          </a:xfrm>
          <a:prstGeom prst="rightArrow">
            <a:avLst/>
          </a:prstGeom>
          <a:solidFill>
            <a:srgbClr val="4A7BC8"/>
          </a:solidFill>
          <a:ln/>
          <a:effectLst>
            <a:outerShdw blurRad="967740000" dist="322580000"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184648" y="27889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797296" y="299008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797296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2E7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84648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76088" y="3941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実装する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50024" y="3314700"/>
            <a:ext cx="338328" cy="365760"/>
          </a:xfrm>
          <a:prstGeom prst="rightArrow">
            <a:avLst/>
          </a:prstGeom>
          <a:solidFill>
            <a:srgbClr val="4A7BC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7424928" y="27889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037576" y="299008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037576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424928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16368" y="3941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品質を確認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90304" y="3314700"/>
            <a:ext cx="338328" cy="365760"/>
          </a:xfrm>
          <a:prstGeom prst="rightArrow">
            <a:avLst/>
          </a:prstGeom>
          <a:solidFill>
            <a:srgbClr val="4A7BC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9665208" y="27889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0277856" y="299008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277856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665208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56648" y="3941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本番へ展開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もっとも汎用的な横フロー。番号と矢印で進む向きを明快に。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フロー（横型）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チェブロン・リボン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2468880" cy="1234440"/>
          </a:xfrm>
          <a:prstGeom prst="chevron">
            <a:avLst/>
          </a:prstGeom>
          <a:solidFill>
            <a:srgbClr val="1B3A5C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97280" y="3044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要件定義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ニーズを整理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98648" y="2788920"/>
            <a:ext cx="2468880" cy="1234440"/>
          </a:xfrm>
          <a:prstGeom prst="chevron">
            <a:avLst/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18688" y="3044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設計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18688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構成を決める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0056" y="2788920"/>
            <a:ext cx="2468880" cy="1234440"/>
          </a:xfrm>
          <a:prstGeom prst="chevron">
            <a:avLst/>
          </a:prstGeom>
          <a:solidFill>
            <a:srgbClr val="2E73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340096" y="3044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開発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40096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実装する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41464" y="2788920"/>
            <a:ext cx="2468880" cy="1234440"/>
          </a:xfrm>
          <a:prstGeom prst="chevron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461504" y="3044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テスト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61504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品質を確認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62872" y="2788920"/>
            <a:ext cx="2468880" cy="1234440"/>
          </a:xfrm>
          <a:prstGeom prst="chevron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582912" y="3044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リリース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582912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本番へ展開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矢羽根を連ねたリボン型。連続した一連の流れを強調したいときに。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フロー（横型）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円ノードのタイムライン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88720" y="3703320"/>
            <a:ext cx="9784080" cy="0"/>
          </a:xfrm>
          <a:prstGeom prst="line">
            <a:avLst/>
          </a:prstGeom>
          <a:noFill/>
          <a:ln w="3175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43000" y="3246120"/>
            <a:ext cx="914400" cy="914400"/>
          </a:xfrm>
          <a:prstGeom prst="ellipse">
            <a:avLst/>
          </a:prstGeom>
          <a:solidFill>
            <a:srgbClr val="1B3A5C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4300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24140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ニーズを整理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00200" y="3246120"/>
            <a:ext cx="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64408" y="3246120"/>
            <a:ext cx="914400" cy="914400"/>
          </a:xfrm>
          <a:prstGeom prst="ellipse">
            <a:avLst/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264408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761488" y="443484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61488" y="45628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07208" y="49469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構成を決める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21608" y="4160520"/>
            <a:ext cx="0" cy="27432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385816" y="3246120"/>
            <a:ext cx="914400" cy="914400"/>
          </a:xfrm>
          <a:prstGeom prst="ellipse">
            <a:avLst/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385816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882896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82896" y="24140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28616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実装する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43016" y="3246120"/>
            <a:ext cx="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507224" y="3246120"/>
            <a:ext cx="914400" cy="914400"/>
          </a:xfrm>
          <a:prstGeom prst="ellipse">
            <a:avLst/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507224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004304" y="443484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004304" y="45628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0024" y="49469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品質を確認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64424" y="4160520"/>
            <a:ext cx="0" cy="27432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9628632" y="3246120"/>
            <a:ext cx="914400" cy="914400"/>
          </a:xfrm>
          <a:prstGeom prst="ellipse">
            <a:avLst/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628632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9125712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125712" y="24140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7143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本番へ展開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85832" y="3246120"/>
            <a:ext cx="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時間軸の上に節目を置くタイムライン型。日付や期間と相性が良い。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フロー（横型）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矢印ブロック（連結）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395728" cy="1188720"/>
          </a:xfrm>
          <a:prstGeom prst="rightArrow">
            <a:avLst/>
          </a:prstGeom>
          <a:solidFill>
            <a:srgbClr val="1B3A5C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3099816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423771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ニーズを整理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9504" y="2788920"/>
            <a:ext cx="2395728" cy="1188720"/>
          </a:xfrm>
          <a:prstGeom prst="rightArrow">
            <a:avLst/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980944" y="3099816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80944" y="3423771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構成を決める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6048" y="2788920"/>
            <a:ext cx="2395728" cy="1188720"/>
          </a:xfrm>
          <a:prstGeom prst="rightArrow">
            <a:avLst/>
          </a:prstGeom>
          <a:solidFill>
            <a:srgbClr val="2E73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47488" y="3099816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47488" y="3423771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実装する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22592" y="2788920"/>
            <a:ext cx="2395728" cy="1188720"/>
          </a:xfrm>
          <a:prstGeom prst="rightArrow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114032" y="3099816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14032" y="3423771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品質を確認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89136" y="2788920"/>
            <a:ext cx="2395728" cy="1188720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180576" y="3099816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80576" y="3423771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本番へ展開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ブロック自体が矢印。推進力・勢いのある流れを表現できる。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フロー（横型）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上下交互フロー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80160" y="3703320"/>
            <a:ext cx="9601200" cy="0"/>
          </a:xfrm>
          <a:prstGeom prst="line">
            <a:avLst/>
          </a:prstGeom>
          <a:noFill/>
          <a:ln w="31750">
            <a:solidFill>
              <a:srgbClr val="2B579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508760" y="3520440"/>
            <a:ext cx="365760" cy="36576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691640" y="3154680"/>
            <a:ext cx="0" cy="4572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86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ニーズを整理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3520440"/>
            <a:ext cx="365760" cy="36576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749040" y="3794760"/>
            <a:ext cx="0" cy="73152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834640" y="4526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834640" y="4672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8036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構成を決める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3520440"/>
            <a:ext cx="365760" cy="36576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806440" y="3154680"/>
            <a:ext cx="0" cy="4572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892040" y="2240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2386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実装する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3520440"/>
            <a:ext cx="365760" cy="36576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7863840" y="3794760"/>
            <a:ext cx="0" cy="73152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949440" y="4526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949440" y="4672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95160" y="5029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品質を確認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38360" y="3520440"/>
            <a:ext cx="365760" cy="36576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9921240" y="3154680"/>
            <a:ext cx="0" cy="4572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9006840" y="2240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9006840" y="2386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05256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本番へ展開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ノードを上下に振り分け、横幅を節約しつつステップ数を確保。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フロー（横型）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セグメントバー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2075688" cy="777240"/>
          </a:xfrm>
          <a:prstGeom prst="roundRect">
            <a:avLst>
              <a:gd name="adj" fmla="val 14118"/>
            </a:avLst>
          </a:prstGeom>
          <a:solidFill>
            <a:srgbClr val="1B3A5C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ニーズを整理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53512" y="3246120"/>
            <a:ext cx="2048256" cy="777240"/>
          </a:xfrm>
          <a:prstGeom prst="roundRect">
            <a:avLst>
              <a:gd name="adj" fmla="val 3529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92608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構成を決める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6632" y="3246120"/>
            <a:ext cx="2048256" cy="777240"/>
          </a:xfrm>
          <a:prstGeom prst="roundRect">
            <a:avLst>
              <a:gd name="adj" fmla="val 3529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実装する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9752" y="3246120"/>
            <a:ext cx="2048256" cy="777240"/>
          </a:xfrm>
          <a:prstGeom prst="roundRect">
            <a:avLst>
              <a:gd name="adj" fmla="val 3529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3232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品質を確認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62872" y="3246120"/>
            <a:ext cx="2075688" cy="777240"/>
          </a:xfrm>
          <a:prstGeom prst="roundRect">
            <a:avLst>
              <a:gd name="adj" fmla="val 14118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23544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0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本番へ展開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6696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1本のバーを区切る型。全体を100%として進捗・割合も示しやすい。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 name="Slide 10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フロー（縦型）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VERTICAL 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プロセスを上から下へ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番号サークル＋縦線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中央縦軸・左右交互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下向き矢印ブロック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縦チェブロン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左番号列＋カード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シンプル縦ステップ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0" dirty="0"/>
          </a:p>
        </p:txBody>
      </p:sp>
    </p:spTree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フロー（縦型）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番号サークル ＋ 縦線タイムライン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920240" y="1783080"/>
            <a:ext cx="0" cy="4069080"/>
          </a:xfrm>
          <a:prstGeom prst="line">
            <a:avLst/>
          </a:prstGeom>
          <a:noFill/>
          <a:ln w="31750">
            <a:solidFill>
              <a:srgbClr val="1593B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40280" y="2103120"/>
            <a:ext cx="411480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600200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E5E7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651760" y="164592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907792" y="17647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課題の発見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907792" y="2148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現状を把握し問題を特定する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3200400"/>
            <a:ext cx="411480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600200" y="28803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6002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651760" y="274320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907792" y="28620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仮説の立案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07792" y="32461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原因を分析し打ち手を設計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4297680"/>
            <a:ext cx="411480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600200" y="3977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99C9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6002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651760" y="384048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907792" y="39593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検証・実行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2907792" y="43434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施策を試し効果を測定する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5394960"/>
            <a:ext cx="411480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600200" y="5074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160020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2651760" y="493776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907792" y="50566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改善・定着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907792" y="54406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成果を磨き仕組み化する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縦の時間軸に番号サークルを並べる基本形。上から下へ読ませたいときに。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フロー（縦型）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中央縦軸・左右交互（ジグザグ）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095848" y="1783080"/>
            <a:ext cx="0" cy="4069080"/>
          </a:xfrm>
          <a:prstGeom prst="line">
            <a:avLst/>
          </a:prstGeom>
          <a:noFill/>
          <a:ln w="31750">
            <a:solidFill>
              <a:srgbClr val="1593B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303520" y="2194560"/>
            <a:ext cx="664312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88720" y="1773936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0E5E7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371600" y="1865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課題の発見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現状を把握し問題を特定する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67832" y="20665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23864" y="3246120"/>
            <a:ext cx="685800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909664" y="2825496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092544" y="29169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仮説の立案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92544" y="3282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原因を分析し打ち手を設計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7832" y="311810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303520" y="4297680"/>
            <a:ext cx="664312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188720" y="3877056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99C9B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371600" y="39684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検証・実行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71600" y="43342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施策を試し効果を測定する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67832" y="416966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223864" y="5349240"/>
            <a:ext cx="685800" cy="0"/>
          </a:xfrm>
          <a:prstGeom prst="line">
            <a:avLst/>
          </a:prstGeom>
          <a:noFill/>
          <a:ln w="2032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909664" y="4928616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092544" y="50200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改善・定着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092544" y="5385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成果を磨き仕組み化する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67832" y="52212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中央の軸を挟み左右に振り分けるジグザグ型。対比や往復の流れに。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フロー（縦型）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下向き矢印ブロック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489808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0E5E7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782416" y="182422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782416" y="182422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41368" y="1801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課題の発見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41368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現状を把握し問題を特定する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76392" y="2482596"/>
            <a:ext cx="438912" cy="301752"/>
          </a:xfrm>
          <a:prstGeom prst="downArrow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89808" y="278892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782416" y="292150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782416" y="292150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41368" y="2898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仮説の立案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41368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原因を分析し打ち手を設計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6392" y="3579876"/>
            <a:ext cx="438912" cy="301752"/>
          </a:xfrm>
          <a:prstGeom prst="downArrow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89808" y="388620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199C9B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782416" y="401878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782416" y="401878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41368" y="3995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検証・実行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41368" y="4343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施策を試し効果を測定する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76392" y="4677156"/>
            <a:ext cx="438912" cy="301752"/>
          </a:xfrm>
          <a:prstGeom prst="downArrow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489808" y="498348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782416" y="511606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782416" y="5116068"/>
            <a:ext cx="51206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41368" y="5093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改善・定着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41368" y="5440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成果を磨き仕組み化する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82416" y="18242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5E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782416" y="29215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782416" y="40187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9C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782416" y="5116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ブロックを下向き矢印でつなぐ型。上意下達や工程の落とし込みに。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フロー（縦型）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縦チェブロン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5400000">
            <a:off x="5556352" y="457200"/>
            <a:ext cx="1078992" cy="3383280"/>
          </a:xfrm>
          <a:prstGeom prst="chevron">
            <a:avLst/>
          </a:prstGeom>
          <a:solidFill>
            <a:srgbClr val="0E5E7A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632808" y="167770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65%"/>
                    <a:lumOff val="35%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課題の発見</a:t>
            </a:r>
            <a:endParaRPr lang="en-US" sz="1500" dirty="0">
              <a:solidFill>
                <a:schemeClr val="tx1">
                  <a:lumMod val="65%"/>
                  <a:lumOff val="35%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632808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現状を把握し問題を特定する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5556352" y="1417320"/>
            <a:ext cx="1078992" cy="3383280"/>
          </a:xfrm>
          <a:prstGeom prst="chevron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632808" y="263782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65%"/>
                    <a:lumOff val="35%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仮説の立案</a:t>
            </a:r>
            <a:endParaRPr lang="en-US" sz="1500" dirty="0">
              <a:solidFill>
                <a:schemeClr val="tx1">
                  <a:lumMod val="65%"/>
                  <a:lumOff val="35%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632808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原因を分析し打ち手を設計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556352" y="2377440"/>
            <a:ext cx="1078992" cy="3383280"/>
          </a:xfrm>
          <a:prstGeom prst="chevron">
            <a:avLst/>
          </a:prstGeom>
          <a:solidFill>
            <a:srgbClr val="199C9B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632808" y="359794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65%"/>
                    <a:lumOff val="35%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検証・実行</a:t>
            </a:r>
            <a:endParaRPr lang="en-US" sz="1500" dirty="0">
              <a:solidFill>
                <a:schemeClr val="tx1">
                  <a:lumMod val="65%"/>
                  <a:lumOff val="35%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32808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施策を試し効果を測定する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556352" y="3337560"/>
            <a:ext cx="1078992" cy="3383280"/>
          </a:xfrm>
          <a:prstGeom prst="chevron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632808" y="455806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>
                    <a:lumMod val="65%"/>
                    <a:lumOff val="35%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改善・定着</a:t>
            </a:r>
            <a:endParaRPr lang="en-US" sz="1500" dirty="0">
              <a:solidFill>
                <a:schemeClr val="tx1">
                  <a:lumMod val="65%"/>
                  <a:lumOff val="35%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32808" y="4983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成果を磨き仕組み化する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下向きの矢羽根を重ねる型。一連の段階が連続することを強調できる。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フロー（縦型）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左番号列 ＋ カード積み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17145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E5E7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1714500"/>
            <a:ext cx="822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874520" y="1691640"/>
            <a:ext cx="9464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874520" y="1691640"/>
            <a:ext cx="118872" cy="868680"/>
          </a:xfrm>
          <a:prstGeom prst="roundRect">
            <a:avLst>
              <a:gd name="adj" fmla="val 30769"/>
            </a:avLst>
          </a:prstGeom>
          <a:solidFill>
            <a:srgbClr val="0E5E7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194560" y="1801368"/>
            <a:ext cx="8915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課題の発見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185416"/>
            <a:ext cx="8915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現状を把握し問題を特定する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7660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68680" y="2766060"/>
            <a:ext cx="822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874520" y="2743200"/>
            <a:ext cx="9464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874520" y="2743200"/>
            <a:ext cx="118872" cy="868680"/>
          </a:xfrm>
          <a:prstGeom prst="roundRect">
            <a:avLst>
              <a:gd name="adj" fmla="val 30769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2852928"/>
            <a:ext cx="8915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仮説の立案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236976"/>
            <a:ext cx="8915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原因を分析し打ち手を設計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38176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99C9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68680" y="3817620"/>
            <a:ext cx="822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874520" y="3794760"/>
            <a:ext cx="9464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874520" y="3794760"/>
            <a:ext cx="118872" cy="868680"/>
          </a:xfrm>
          <a:prstGeom prst="roundRect">
            <a:avLst>
              <a:gd name="adj" fmla="val 30769"/>
            </a:avLst>
          </a:prstGeom>
          <a:solidFill>
            <a:srgbClr val="199C9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194560" y="3904488"/>
            <a:ext cx="8915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検証・実行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4288536"/>
            <a:ext cx="8915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施策を試し効果を測定する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48691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68680" y="4869180"/>
            <a:ext cx="822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874520" y="4846320"/>
            <a:ext cx="9464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874520" y="4846320"/>
            <a:ext cx="118872" cy="868680"/>
          </a:xfrm>
          <a:prstGeom prst="roundRect">
            <a:avLst>
              <a:gd name="adj" fmla="val 30769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194560" y="4956048"/>
            <a:ext cx="8915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改善・定着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94560" y="5340096"/>
            <a:ext cx="8915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成果を磨き仕組み化する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左に大きな番号、右に横長カードを積む型。説明文を長めに添えたいときに。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purl.oclc.org/ooxml/drawingml/main" xmlns:r="http://purl.oclc.org/ooxml/officeDocument/relationships" xmlns:p="http://purl.oclc.org/ooxml/presentationml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フロー（縦型）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シンプル縦ステップ（接続線）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095848" y="2514600"/>
            <a:ext cx="0" cy="384048"/>
          </a:xfrm>
          <a:prstGeom prst="line">
            <a:avLst/>
          </a:prstGeom>
          <a:noFill/>
          <a:ln w="27940">
            <a:solidFill>
              <a:srgbClr val="1593B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09848" y="178308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320">
            <a:solidFill>
              <a:srgbClr val="1593B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047592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5E7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04759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78528" y="1783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課題の発見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48" y="3630168"/>
            <a:ext cx="0" cy="384048"/>
          </a:xfrm>
          <a:prstGeom prst="line">
            <a:avLst/>
          </a:prstGeom>
          <a:noFill/>
          <a:ln w="27940">
            <a:solidFill>
              <a:srgbClr val="1593B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809848" y="2898648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320">
            <a:solidFill>
              <a:srgbClr val="1593B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047592" y="3035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04759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78528" y="28986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仮説の立案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48" y="4745736"/>
            <a:ext cx="0" cy="384048"/>
          </a:xfrm>
          <a:prstGeom prst="line">
            <a:avLst/>
          </a:prstGeom>
          <a:noFill/>
          <a:ln w="27940">
            <a:solidFill>
              <a:srgbClr val="1593B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09848" y="4014216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320">
            <a:solidFill>
              <a:srgbClr val="1593B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047592" y="41513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99C9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047592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78528" y="4014216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検証・実行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9848" y="5129784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320">
            <a:solidFill>
              <a:srgbClr val="1593B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047592" y="5266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047592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8528" y="512978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改善・定着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枠を細い矢印でつなぐだけの最小構成。情報量を絞った清潔な見せ方。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purl.oclc.org/ooxml/drawingml/main" xmlns:r="http://purl.oclc.org/ooxml/officeDocument/relationships" xmlns:p="http://purl.oclc.org/ooxml/presentationml/main">
  <p:cSld name="Slide 17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CYCLE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繰り返す循環・PDCA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4ステップ円環（回転矢印）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3ステップ循環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5ステップ円環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中央ハブ＋周回ノード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横展開ループ（→→↺）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0000" dirty="0"/>
          </a:p>
        </p:txBody>
      </p:sp>
    </p:spTree>
  </p:cSld>
  <p:clrMapOvr>
    <a:masterClrMapping/>
  </p:clrMapOvr>
</p:sld>
</file>

<file path=ppt/slides/slide18.xml><?xml version="1.0" encoding="utf-8"?>
<p:sld xmlns:a="http://purl.oclc.org/ooxml/drawingml/main" xmlns:r="http://purl.oclc.org/ooxml/officeDocument/relationships" xmlns:p="http://purl.oclc.org/ooxml/presentationml/main">
  <p:cSld name="Slide 1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サイクル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4ステップ円環（回転矢印）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2700000">
            <a:off x="6962955" y="2282797"/>
            <a:ext cx="1280160" cy="58521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 rot="8100000">
            <a:off x="6962955" y="4739795"/>
            <a:ext cx="1280160" cy="58521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 rot="13500000">
            <a:off x="3948581" y="4739795"/>
            <a:ext cx="1280160" cy="58521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 rot="18900000">
            <a:off x="3948581" y="2282797"/>
            <a:ext cx="1280160" cy="58521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492344" y="3200400"/>
            <a:ext cx="1207008" cy="1207008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92344" y="3200400"/>
            <a:ext cx="120700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58588" y="1586484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158588" y="1586484"/>
            <a:ext cx="187452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 計画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95948" y="3323844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95948" y="3323844"/>
            <a:ext cx="187452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 実行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8588" y="5061204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158588" y="5061204"/>
            <a:ext cx="187452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 評価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1228" y="3323844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421228" y="3323844"/>
            <a:ext cx="187452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 改善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PDCAなど4工程の循環。回転矢印で回り続ける様子を表現。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purl.oclc.org/ooxml/drawingml/main" xmlns:r="http://purl.oclc.org/ooxml/officeDocument/relationships" xmlns:p="http://purl.oclc.org/ooxml/presentationml/main">
  <p:cSld name="Slide 1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サイクル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3ステップ循環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3600000">
            <a:off x="6966491" y="2674620"/>
            <a:ext cx="1188720" cy="566928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 rot="10800000">
            <a:off x="5501488" y="5212080"/>
            <a:ext cx="1188720" cy="566928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 rot="18000000">
            <a:off x="4036484" y="2674620"/>
            <a:ext cx="1188720" cy="566928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92344" y="3200400"/>
            <a:ext cx="1207008" cy="1207008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92344" y="3200400"/>
            <a:ext cx="120700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35728" y="1609344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135728" y="1609344"/>
            <a:ext cx="19202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00731" y="4146804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600731" y="4146804"/>
            <a:ext cx="19202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70724" y="4146804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670724" y="4146804"/>
            <a:ext cx="19202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3工程の小さな循環。素早く回す改善ループに最適。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purl.oclc.org/ooxml/drawingml/main" xmlns:r="http://purl.oclc.org/ooxml/officeDocument/relationships" xmlns:p="http://purl.oclc.org/ooxml/presentationml/main">
  <p:cSld name="Slide 2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サイクル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5ステップ円環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12768" y="2020824"/>
            <a:ext cx="3566160" cy="3566160"/>
          </a:xfrm>
          <a:prstGeom prst="ellipse">
            <a:avLst/>
          </a:prstGeom>
          <a:ln w="2540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547208" y="3255264"/>
            <a:ext cx="1097280" cy="1097280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47208" y="3255264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循環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81448" y="1636776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272888" y="177393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272888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84952" y="163677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77257" y="2868854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968697" y="300601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968697" y="3006014"/>
            <a:ext cx="493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80761" y="28688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29516" y="4862398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320956" y="499955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320956" y="4999558"/>
            <a:ext cx="493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33020" y="486239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33379" y="4862398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4224819" y="499955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224819" y="4999558"/>
            <a:ext cx="493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36883" y="486239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485638" y="2868854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577078" y="300601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577078" y="3006014"/>
            <a:ext cx="493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089142" y="28688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5工程の円環。リングと番号で順序と周回を示す。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purl.oclc.org/ooxml/drawingml/main" xmlns:r="http://purl.oclc.org/ooxml/officeDocument/relationships" xmlns:p="http://purl.oclc.org/ooxml/presentationml/main">
  <p:cSld name="Slide 2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サイクル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中央ハブ＋周回ノード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095848" y="1975104"/>
            <a:ext cx="0" cy="18288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12060" y="2889504"/>
            <a:ext cx="1583787" cy="9144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 flipH="1">
            <a:off x="4512060" y="3803904"/>
            <a:ext cx="1583787" cy="9144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095848" y="3803904"/>
            <a:ext cx="0" cy="18288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095848" y="3803904"/>
            <a:ext cx="1583787" cy="9144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 flipH="1">
            <a:off x="6095848" y="2889504"/>
            <a:ext cx="1583787" cy="914400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67048" y="1975104"/>
            <a:ext cx="3657600" cy="3657600"/>
          </a:xfrm>
          <a:prstGeom prst="ellipse">
            <a:avLst/>
          </a:prstGeom>
          <a:ln w="19050">
            <a:solidFill>
              <a:srgbClr val="DCE5F1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204308" y="160020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204308" y="1600200"/>
            <a:ext cx="17830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20520" y="251460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620520" y="2514600"/>
            <a:ext cx="17830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20520" y="434340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620520" y="4343400"/>
            <a:ext cx="17830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04308" y="525780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204308" y="5257800"/>
            <a:ext cx="17830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88095" y="434340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788095" y="4343400"/>
            <a:ext cx="17830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88095" y="251460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788095" y="2514600"/>
            <a:ext cx="17830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27168" y="2935224"/>
            <a:ext cx="1737360" cy="1737360"/>
          </a:xfrm>
          <a:prstGeom prst="ellipse">
            <a:avLst/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227168" y="2935224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中央のハブを核に各機能が周回。連携の中心を明確化。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purl.oclc.org/ooxml/drawingml/main" xmlns:r="http://purl.oclc.org/ooxml/officeDocument/relationships" xmlns:p="http://purl.oclc.org/ooxml/presentationml/main">
  <p:cSld name="Slide 2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サイクル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横展開ループ（→→↺）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01168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90088" y="2907792"/>
            <a:ext cx="457200" cy="40233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566160" y="2514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01168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87568" y="2907792"/>
            <a:ext cx="457200" cy="40233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63640" y="2514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201168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385048" y="2907792"/>
            <a:ext cx="457200" cy="402336"/>
          </a:xfrm>
          <a:prstGeom prst="rightArrow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961120" y="2514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961120" y="2514600"/>
            <a:ext cx="201168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966960" y="3703320"/>
            <a:ext cx="0" cy="1463040"/>
          </a:xfrm>
          <a:prstGeom prst="line">
            <a:avLst/>
          </a:prstGeom>
          <a:noFill/>
          <a:ln w="25400">
            <a:solidFill>
              <a:srgbClr val="1FA9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874520" y="5166360"/>
            <a:ext cx="8092440" cy="0"/>
          </a:xfrm>
          <a:prstGeom prst="line">
            <a:avLst/>
          </a:prstGeom>
          <a:noFill/>
          <a:ln w="25400">
            <a:solidFill>
              <a:srgbClr val="1FA9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874520" y="3703320"/>
            <a:ext cx="0" cy="1463040"/>
          </a:xfrm>
          <a:prstGeom prst="line">
            <a:avLst/>
          </a:prstGeom>
          <a:noFill/>
          <a:ln w="25400">
            <a:solidFill>
              <a:srgbClr val="1FA98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5181448" y="491032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A98F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181448" y="4910328"/>
            <a:ext cx="18288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繰り返す 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横一列で進み、最後に先頭へ戻す。繰り返す工程を平易に。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purl.oclc.org/ooxml/drawingml/main" xmlns:r="http://purl.oclc.org/ooxml/officeDocument/relationships" xmlns:p="http://purl.oclc.org/ooxml/presentationml/main">
  <p:cSld name="Slide 23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ビフォーアフター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 / AFTER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改善前後の対比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2パネル＋中央矢印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上下対比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3コマ（前→施策→後）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数値ビフォーアフター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左右リスト（✕/○）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分割バー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0000" dirty="0"/>
          </a:p>
        </p:txBody>
      </p:sp>
    </p:spTree>
  </p:cSld>
  <p:clrMapOvr>
    <a:masterClrMapping/>
  </p:clrMapOvr>
</p:sld>
</file>

<file path=ppt/slides/slide24.xml><?xml version="1.0" encoding="utf-8"?>
<p:sld xmlns:a="http://purl.oclc.org/ooxml/drawingml/main" xmlns:r="http://purl.oclc.org/ooxml/officeDocument/relationships" xmlns:p="http://purl.oclc.org/ooxml/presentationml/main">
  <p:cSld name="Slide 2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ビフォーアフター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2パネル ＋ 中央矢印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48056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48056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　改善前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3268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7614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手作業での入力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895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3268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73075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情報が分散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864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32688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70001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処理が遅い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40880" y="1828800"/>
            <a:ext cx="448056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040880" y="182880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040880" y="1828800"/>
            <a:ext cx="448056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　改善後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33488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33348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55280" y="27614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自動で取り込み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33488" y="3895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33348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955280" y="373075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一元管理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33488" y="4864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333488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955280" y="470001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即時処理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30368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474720"/>
            <a:ext cx="1691640" cy="658368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左右パネルを並べた基本形。改善前後を一目で対比できる王道レイアウト。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purl.oclc.org/ooxml/drawingml/main" xmlns:r="http://purl.oclc.org/ooxml/officeDocument/relationships" xmlns:p="http://purl.oclc.org/ooxml/presentationml/main">
  <p:cSld name="Slide 2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ビフォーアフター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上下対比（Before↓After）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58952" y="178308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7ECF3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60120" y="1929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02152" y="19293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50215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25856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手作業で入力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8952" y="425196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60120" y="4398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02152" y="43982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502152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72744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自動で取込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416552" y="178308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7ECF3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1929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9752" y="19293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5975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225856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情報が分散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416552" y="425196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4398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9752" y="43982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159752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72744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一元管理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074152" y="178308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7ECF3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275320" y="1929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817352" y="19293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81735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5320" y="225856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処理が遅い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074152" y="425196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275320" y="4398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17352" y="43982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10817352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472744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即時処理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 rot="5400000">
            <a:off x="5733288" y="3273552"/>
            <a:ext cx="749808" cy="658368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537960" y="334670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上段を改善前・下段を改善後に。縦方向の落差で変化の方向を示す。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purl.oclc.org/ooxml/drawingml/main" xmlns:r="http://purl.oclc.org/ooxml/officeDocument/relationships" xmlns:p="http://purl.oclc.org/ooxml/presentationml/main">
  <p:cSld name="Slide 2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ビフォーアフター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3コマ（現状 → 取り組み → 成果）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55264" cy="384048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55264" cy="713232"/>
          </a:xfrm>
          <a:prstGeom prst="roundRect">
            <a:avLst>
              <a:gd name="adj" fmla="val 12821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255264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28895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96112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26464" y="27432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手作業が多い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8039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96112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26464" y="36576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情報が分散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47183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96112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26464" y="45720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処理が遅い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43984" y="1828800"/>
            <a:ext cx="3255264" cy="384048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443984" y="1828800"/>
            <a:ext cx="3255264" cy="713232"/>
          </a:xfrm>
          <a:prstGeom prst="roundRect">
            <a:avLst>
              <a:gd name="adj" fmla="val 12821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443984" y="1828800"/>
            <a:ext cx="3255264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取り組み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0016" y="28895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700016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30368" y="27432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業務を棚卸し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00016" y="38039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700016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30368" y="36576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ツールを導入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700016" y="47183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00016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30368" y="45720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工程を自動化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47888" y="1828800"/>
            <a:ext cx="3255264" cy="384048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247888" y="1828800"/>
            <a:ext cx="3255264" cy="713232"/>
          </a:xfrm>
          <a:prstGeom prst="roundRect">
            <a:avLst>
              <a:gd name="adj" fmla="val 12821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247888" y="1828800"/>
            <a:ext cx="3255264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3920" y="28895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50392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34272" y="27432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工数を削減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503920" y="38039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850392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034272" y="36576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一元で管理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503920" y="47183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503920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034272" y="4572000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即時に処理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3931920" y="3520440"/>
            <a:ext cx="457200" cy="420624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7735824" y="3520440"/>
            <a:ext cx="457200" cy="420624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改善前→施策→改善後の3コマ。打ち手を中央に挟み因果を見せる。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purl.oclc.org/ooxml/drawingml/main" xmlns:r="http://purl.oclc.org/ooxml/officeDocument/relationships" xmlns:p="http://purl.oclc.org/ooxml/presentationml/main">
  <p:cSld name="Slide 2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ビフォーアフター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数値ビフォーアフター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241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作業工数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6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8時間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394960" y="2148840"/>
            <a:ext cx="822960" cy="365760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355080" y="19202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915400" y="2020824"/>
            <a:ext cx="1828800" cy="621792"/>
          </a:xfrm>
          <a:prstGeom prst="roundRect">
            <a:avLst>
              <a:gd name="adj" fmla="val 50000"/>
            </a:avLst>
          </a:prstGeom>
          <a:solidFill>
            <a:srgbClr val="FBEF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915400" y="2020824"/>
            <a:ext cx="1828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-62%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10241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68680" y="3108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入力ミス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26080" y="324612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92608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6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50件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394960" y="3474720"/>
            <a:ext cx="822960" cy="365760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355080" y="324612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35508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5件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915400" y="3346704"/>
            <a:ext cx="1828800" cy="621792"/>
          </a:xfrm>
          <a:prstGeom prst="roundRect">
            <a:avLst>
              <a:gd name="adj" fmla="val 50000"/>
            </a:avLst>
          </a:prstGeom>
          <a:solidFill>
            <a:srgbClr val="FBEF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915400" y="3346704"/>
            <a:ext cx="1828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-90%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241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月コスト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926080" y="45720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92608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6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120万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394960" y="4800600"/>
            <a:ext cx="822960" cy="365760"/>
          </a:xfrm>
          <a:prstGeom prst="rightArrow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355080" y="45720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35508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48万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8915400" y="4672584"/>
            <a:ext cx="1828800" cy="621792"/>
          </a:xfrm>
          <a:prstGeom prst="roundRect">
            <a:avLst>
              <a:gd name="adj" fmla="val 50000"/>
            </a:avLst>
          </a:prstGeom>
          <a:solidFill>
            <a:srgbClr val="FBEFD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915400" y="4672584"/>
            <a:ext cx="1828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-60%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指標ごとに改善前後の数値を大きく対比。右端のバッジで変化幅を強調。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purl.oclc.org/ooxml/drawingml/main" xmlns:r="http://purl.oclc.org/ooxml/officeDocument/relationships" xmlns:p="http://purl.oclc.org/ooxml/presentationml/main">
  <p:cSld name="Slide 2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ビフォーアフター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左右リスト（✕課題 / ○解決）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585216"/>
          </a:xfrm>
          <a:prstGeom prst="roundRect">
            <a:avLst>
              <a:gd name="adj" fmla="val 14063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12064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課題（Before）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120640" cy="585216"/>
          </a:xfrm>
          <a:prstGeom prst="roundRect">
            <a:avLst>
              <a:gd name="adj" fmla="val 14063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解決（After）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48" y="1783080"/>
            <a:ext cx="0" cy="4114800"/>
          </a:xfrm>
          <a:prstGeom prst="line">
            <a:avLst/>
          </a:prstGeom>
          <a:noFill/>
          <a:ln w="1905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77240" y="27340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3312" y="2615184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手作業で時間がかかる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37960" y="27340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14032" y="2615184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自動化で大幅に時短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35387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538728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3312" y="3419856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情報が分散している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35387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37960" y="3538728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4032" y="3419856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一元管理で集約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43434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3312" y="4224528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進捗が見えない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537960" y="43434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53796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14032" y="4224528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進捗を可視化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51480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77240" y="5148072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53312" y="5029200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入力ミスが多い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537960" y="51480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537960" y="5148072"/>
            <a:ext cx="4389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14032" y="5029200"/>
            <a:ext cx="4251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精度が向上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課題と解決を行ごとに対応づけ。✕と○で対比をシンプルに示す。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purl.oclc.org/ooxml/drawingml/main" xmlns:r="http://purl.oclc.org/ooxml/officeDocument/relationships" xmlns:p="http://purl.oclc.org/ooxml/presentationml/main">
  <p:cSld name="Slide 2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ビフォーアフター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分割バー（スライダー）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862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　改善前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39512" y="2862072"/>
            <a:ext cx="6099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　改善後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4416552" cy="1097280"/>
          </a:xfrm>
          <a:prstGeom prst="roundRect">
            <a:avLst>
              <a:gd name="adj" fmla="val 8333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416552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 ・ 分散 ・ 遅い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39512" y="3429000"/>
            <a:ext cx="6099048" cy="1097280"/>
          </a:xfrm>
          <a:prstGeom prst="roundRect">
            <a:avLst>
              <a:gd name="adj" fmla="val 8333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239512" y="3429000"/>
            <a:ext cx="6099048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 ・ 一元管理 ・ 即時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55464" y="3593592"/>
            <a:ext cx="768096" cy="7680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0922F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377647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72744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コストと時間がかさむ状態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9512" y="4727448"/>
            <a:ext cx="6099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効率と精度が向上した状態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1本のバーを改善前後で分割。スライダーが右へ動く変化を直感的に表現。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purl.oclc.org/ooxml/drawingml/main" xmlns:r="http://purl.oclc.org/ooxml/officeDocument/relationships" xmlns:p="http://purl.oclc.org/ooxml/presentationml/main">
  <p:cSld name="Slide 30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マトリクス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MATRIX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2軸で分類する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2×2 ＋ 軸ラベル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2×2 具体例プロット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2×3（6セル）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3×3（9セル・濃淡）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ポジショニングマップ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2×2 推奨ハイライト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20000" dirty="0"/>
          </a:p>
        </p:txBody>
      </p:sp>
    </p:spTree>
  </p:cSld>
  <p:clrMapOvr>
    <a:masterClrMapping/>
  </p:clrMapOvr>
</p:sld>
</file>

<file path=ppt/slides/slide31.xml><?xml version="1.0" encoding="utf-8"?>
<p:sld xmlns:a="http://purl.oclc.org/ooxml/drawingml/main" xmlns:r="http://purl.oclc.org/ooxml/officeDocument/relationships" xmlns:p="http://purl.oclc.org/ooxml/presentationml/main">
  <p:cSld name="Slide 3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マトリクス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2×2 ＋ 軸ラベル（基本形）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91640" y="1874520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691640" y="229514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計画的に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2862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重要・緊急でない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6C5C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629400" y="229514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12280" y="2862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重要かつ緊急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3858768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6B7A90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691640" y="427939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74520" y="48463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重要でも緊急でもない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3858768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629400" y="427939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任せる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48463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緊急だが重要でない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371600" y="1874520"/>
            <a:ext cx="0" cy="3739896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 rot="16200000">
            <a:off x="-777240" y="35387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重要度  高  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5687568"/>
            <a:ext cx="996696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691640" y="5733288"/>
            <a:ext cx="9646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緊急度  高  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縦軸×横軸で4象限に分類する基本形。右上を最優先に置くのが定石。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purl.oclc.org/ooxml/drawingml/main" xmlns:r="http://purl.oclc.org/ooxml/officeDocument/relationships" xmlns:p="http://purl.oclc.org/ooxml/presentationml/main">
  <p:cSld name="Slide 3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マトリクス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2×2 具体例プロット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91640" y="1874520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856232" y="202082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856232" y="2020824"/>
            <a:ext cx="14173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計画的に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75104" y="2569464"/>
            <a:ext cx="201168" cy="201168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58568" y="24871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人材育成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75104" y="2916936"/>
            <a:ext cx="201168" cy="201168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258568" y="2834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新規開拓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975104" y="3264408"/>
            <a:ext cx="201168" cy="201168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258568" y="3182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1874520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793992" y="202082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793992" y="2020824"/>
            <a:ext cx="14173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12864" y="2569464"/>
            <a:ext cx="201168" cy="201168"/>
          </a:xfrm>
          <a:prstGeom prst="ellipse">
            <a:avLst/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96328" y="24871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クレーム対応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2864" y="2916936"/>
            <a:ext cx="201168" cy="201168"/>
          </a:xfrm>
          <a:prstGeom prst="ellipse">
            <a:avLst/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196328" y="2834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障害復旧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691640" y="3858768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856232" y="400507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6B7A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856232" y="4005072"/>
            <a:ext cx="14173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75104" y="4553712"/>
            <a:ext cx="201168" cy="201168"/>
          </a:xfrm>
          <a:prstGeom prst="ellipse">
            <a:avLst/>
          </a:prstGeom>
          <a:solidFill>
            <a:srgbClr val="6B7A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258568" y="44714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惰性の会議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975104" y="4901184"/>
            <a:ext cx="201168" cy="201168"/>
          </a:xfrm>
          <a:prstGeom prst="ellipse">
            <a:avLst/>
          </a:prstGeom>
          <a:solidFill>
            <a:srgbClr val="6B7A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258568" y="4818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過剰な報告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9400" y="3858768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793992" y="400507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793992" y="4005072"/>
            <a:ext cx="14173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任せる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12864" y="4553712"/>
            <a:ext cx="201168" cy="201168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7196328" y="44714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定型処理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12864" y="4901184"/>
            <a:ext cx="201168" cy="201168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7196328" y="4818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一次対応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371600" y="1874520"/>
            <a:ext cx="0" cy="3739896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 rot="16200000">
            <a:off x="-777240" y="35387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重要度  高  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371600" y="5687568"/>
            <a:ext cx="996696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1691640" y="5733288"/>
            <a:ext cx="9646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緊急度  高  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各象限に具体例を点でプロット。抽象的な軸を実例で腹落ちさせる。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purl.oclc.org/ooxml/drawingml/main" xmlns:r="http://purl.oclc.org/ooxml/officeDocument/relationships" xmlns:p="http://purl.oclc.org/ooxml/presentationml/main">
  <p:cSld name="Slide 3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マトリクス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2×3（6セル）優先度マトリクス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965960" y="182880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965960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  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93792" y="182880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193792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  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21624" y="182880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8A98A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421624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  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487168"/>
            <a:ext cx="1143000" cy="1627632"/>
          </a:xfrm>
          <a:prstGeom prst="roundRect">
            <a:avLst>
              <a:gd name="adj" fmla="val 6400"/>
            </a:avLst>
          </a:prstGeom>
          <a:solidFill>
            <a:srgbClr val="1E3354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487168"/>
            <a:ext cx="1143000" cy="16276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短期施策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965960" y="2487168"/>
            <a:ext cx="2971800" cy="1627632"/>
          </a:xfrm>
          <a:prstGeom prst="roundRect">
            <a:avLst>
              <a:gd name="adj" fmla="val 5618"/>
            </a:avLst>
          </a:prstGeom>
          <a:solidFill>
            <a:srgbClr val="6C5C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103120" y="304495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値上げ交渉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93792" y="2487168"/>
            <a:ext cx="2971800" cy="1627632"/>
          </a:xfrm>
          <a:prstGeom prst="roundRect">
            <a:avLst>
              <a:gd name="adj" fmla="val 5618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330952" y="304495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販促を強化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21624" y="2487168"/>
            <a:ext cx="2971800" cy="1627632"/>
          </a:xfrm>
          <a:prstGeom prst="roundRect">
            <a:avLst>
              <a:gd name="adj" fmla="val 5618"/>
            </a:avLst>
          </a:prstGeom>
          <a:solidFill>
            <a:srgbClr val="8A98AC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558784" y="304495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資料を整備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1143000" cy="1627632"/>
          </a:xfrm>
          <a:prstGeom prst="roundRect">
            <a:avLst>
              <a:gd name="adj" fmla="val 6400"/>
            </a:avLst>
          </a:prstGeom>
          <a:solidFill>
            <a:srgbClr val="1E3354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4389120"/>
            <a:ext cx="1143000" cy="16276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中長期施策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965960" y="4389120"/>
            <a:ext cx="2971800" cy="1627632"/>
          </a:xfrm>
          <a:prstGeom prst="roundRect">
            <a:avLst>
              <a:gd name="adj" fmla="val 5618"/>
            </a:avLst>
          </a:prstGeom>
          <a:solidFill>
            <a:srgbClr val="6C5C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103120" y="494690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新規事業化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193792" y="4389120"/>
            <a:ext cx="2971800" cy="1627632"/>
          </a:xfrm>
          <a:prstGeom prst="roundRect">
            <a:avLst>
              <a:gd name="adj" fmla="val 5618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330952" y="494690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DXを推進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421624" y="4389120"/>
            <a:ext cx="2971800" cy="1627632"/>
          </a:xfrm>
          <a:prstGeom prst="roundRect">
            <a:avLst>
              <a:gd name="adj" fmla="val 5618"/>
            </a:avLst>
          </a:prstGeom>
          <a:solidFill>
            <a:srgbClr val="8A98AC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558784" y="494690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制度を見直し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行＝施策区分、列＝優先度。色の濃さで対応の順番をひと目で示す。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purl.oclc.org/ooxml/drawingml/main" xmlns:r="http://purl.oclc.org/ooxml/officeDocument/relationships" xmlns:p="http://purl.oclc.org/ooxml/presentationml/main">
  <p:cSld name="Slide 3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マトリクス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3×3（9セル・濃淡スコア）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14884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緊急度  低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76088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緊急度  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03336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緊急度  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6883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重要度  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48840" y="2331720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9DBFE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76088" y="2331720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5C90D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276088" y="2331720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03336" y="2331720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403336" y="2331720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502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重要度  中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48840" y="3593592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CFE0F4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148840" y="3593592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後回し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76088" y="3593592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9DBFE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276088" y="3593592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03336" y="3593592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5C90D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403336" y="3593592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重要度  低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148840" y="4855464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EEF4FB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148840" y="4855464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後回し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76088" y="4855464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CFE0F4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276088" y="4855464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後回し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03336" y="4855464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9DBFE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403336" y="4855464"/>
            <a:ext cx="2926080" cy="10789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セルの濃淡でスコアを表現。重要度×緊急度の合成で強弱を可視化。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purl.oclc.org/ooxml/drawingml/main" xmlns:r="http://purl.oclc.org/ooxml/officeDocument/relationships" xmlns:p="http://purl.oclc.org/ooxml/presentationml/main">
  <p:cSld name="Slide 3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マトリクス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ポジショニングマップ（散布）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0" cy="365760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783080" y="3703320"/>
            <a:ext cx="9646920" cy="0"/>
          </a:xfrm>
          <a:prstGeom prst="line">
            <a:avLst/>
          </a:prstGeom>
          <a:noFill/>
          <a:ln w="22225">
            <a:solidFill>
              <a:srgbClr val="AEBFD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  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5605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  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  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0412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  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01184" y="2478024"/>
            <a:ext cx="438912" cy="438912"/>
          </a:xfrm>
          <a:prstGeom prst="ellipse">
            <a:avLst/>
          </a:prstGeom>
          <a:solidFill>
            <a:srgbClr val="6C5C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343400" y="20939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2093976"/>
            <a:ext cx="15544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30768" y="2350008"/>
            <a:ext cx="329184" cy="329184"/>
          </a:xfrm>
          <a:prstGeom prst="ellipse">
            <a:avLst/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18120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818120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93008" y="4453128"/>
            <a:ext cx="329184" cy="329184"/>
          </a:xfrm>
          <a:prstGeom prst="ellipse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2880360" y="4069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880360" y="4069080"/>
            <a:ext cx="15544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45168" y="4727448"/>
            <a:ext cx="329184" cy="329184"/>
          </a:xfrm>
          <a:prstGeom prst="ellipse">
            <a:avLst/>
          </a:prstGeom>
          <a:solidFill>
            <a:srgbClr val="6B7A90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732520" y="43434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732520" y="4343400"/>
            <a:ext cx="15544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42048" y="4133088"/>
            <a:ext cx="329184" cy="329184"/>
          </a:xfrm>
          <a:prstGeom prst="ellipse">
            <a:avLst/>
          </a:prstGeom>
          <a:solidFill>
            <a:srgbClr val="6C5C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629400" y="37490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629400" y="3749040"/>
            <a:ext cx="15544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2軸の平面に各社を配置。自社と競合の相対的な立ち位置を掴む。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purl.oclc.org/ooxml/drawingml/main" xmlns:r="http://purl.oclc.org/ooxml/officeDocument/relationships" xmlns:p="http://purl.oclc.org/ooxml/presentationml/main">
  <p:cSld name="Slide 3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マトリクス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2×2 推奨ハイライト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91640" y="1874520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E7ECF3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691640" y="23317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注力候補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74520" y="28986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効果中・コスト低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6C5C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629400" y="23317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12280" y="28986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高効果・低コスト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789920" y="2020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078992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91640" y="3858768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E7ECF3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691640" y="4315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見送り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874520" y="488289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低効果・高コスト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3858768"/>
            <a:ext cx="4709160" cy="1755648"/>
          </a:xfrm>
          <a:prstGeom prst="roundRect">
            <a:avLst>
              <a:gd name="adj" fmla="val 5208"/>
            </a:avLst>
          </a:prstGeom>
          <a:solidFill>
            <a:srgbClr val="E7ECF3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4315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98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要検討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812280" y="488289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高効果・高コスト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371600" y="1874520"/>
            <a:ext cx="0" cy="3739896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 rot="16200000">
            <a:off x="-777240" y="35387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  高  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5733288"/>
            <a:ext cx="9646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  低  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5687568"/>
            <a:ext cx="996696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1象限だけを強調し、打ち手を1つに絞る。意思決定を促す結論型。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purl.oclc.org/ooxml/drawingml/main" xmlns:r="http://purl.oclc.org/ooxml/officeDocument/relationships" xmlns:p="http://purl.oclc.org/ooxml/presentationml/main">
  <p:cSld name="Slide 37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ベン図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VENN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重なり・共通点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3円重なり＋凡例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2円（共通部分強調）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4円クラスタ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入れ子・同心円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2円＋共通点リスト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3円＋各重なりラベル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20000" dirty="0"/>
          </a:p>
        </p:txBody>
      </p:sp>
    </p:spTree>
  </p:cSld>
  <p:clrMapOvr>
    <a:masterClrMapping/>
  </p:clrMapOvr>
</p:sld>
</file>

<file path=ppt/slides/slide38.xml><?xml version="1.0" encoding="utf-8"?>
<p:sld xmlns:a="http://purl.oclc.org/ooxml/drawingml/main" xmlns:r="http://purl.oclc.org/ooxml/officeDocument/relationships" xmlns:p="http://purl.oclc.org/ooxml/presentationml/main">
  <p:cSld name="Slide 3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ベン図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3円重なり ＋ 凡例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0" y="1691640"/>
            <a:ext cx="2743200" cy="2743200"/>
          </a:xfrm>
          <a:prstGeom prst="ellipse">
            <a:avLst/>
          </a:prstGeom>
          <a:solidFill>
            <a:srgbClr val="1593B8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737360" y="2880360"/>
            <a:ext cx="2743200" cy="2743200"/>
          </a:xfrm>
          <a:prstGeom prst="ellipse">
            <a:avLst/>
          </a:prstGeom>
          <a:solidFill>
            <a:srgbClr val="E0922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383280" y="2880360"/>
            <a:ext cx="2743200" cy="2743200"/>
          </a:xfrm>
          <a:prstGeom prst="ellipse">
            <a:avLst/>
          </a:prstGeom>
          <a:solidFill>
            <a:srgbClr val="1FA98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406140" y="167335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06140" y="1673352"/>
            <a:ext cx="105156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05940" y="478231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805940" y="4782312"/>
            <a:ext cx="105156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06340" y="478231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06340" y="4782312"/>
            <a:ext cx="105156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77540" y="36728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 w="1270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177540" y="3672840"/>
            <a:ext cx="15087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事業の成功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214884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223760" y="23500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 — 重なりの意味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223760" y="2825496"/>
            <a:ext cx="393192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287768" y="3182112"/>
            <a:ext cx="237744" cy="237744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680960" y="30998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技術力 × 市場性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34107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製品競争力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87768" y="3840480"/>
            <a:ext cx="237744" cy="237744"/>
          </a:xfrm>
          <a:prstGeom prst="ellipse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680960" y="37581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市場性 × チーム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4069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実行力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87768" y="4498848"/>
            <a:ext cx="237744" cy="237744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680960" y="4416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技術力 × チーム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4727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開発体制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5157216"/>
            <a:ext cx="237744" cy="237744"/>
          </a:xfrm>
          <a:prstGeom prst="ellipse">
            <a:avLst/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680960" y="50749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3つの共通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53858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事業の成功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3つの要素が重なる中心が理想。凡例で各重なりの意味を補足する。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purl.oclc.org/ooxml/drawingml/main" xmlns:r="http://purl.oclc.org/ooxml/officeDocument/relationships" xmlns:p="http://purl.oclc.org/ooxml/presentationml/main">
  <p:cSld name="Slide 3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ベン図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2円重なり（共通部分の強調）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2つの円が重なる部分が「強み」になる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03320" y="2240280"/>
            <a:ext cx="3108960" cy="3108960"/>
          </a:xfrm>
          <a:prstGeom prst="ellipse">
            <a:avLst/>
          </a:prstGeom>
          <a:solidFill>
            <a:srgbClr val="1593B8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257800" y="2240280"/>
            <a:ext cx="3108960" cy="3108960"/>
          </a:xfrm>
          <a:prstGeom prst="ellipse">
            <a:avLst/>
          </a:prstGeom>
          <a:solidFill>
            <a:srgbClr val="E0922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383280" y="358444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383280" y="3584448"/>
            <a:ext cx="155448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自社の強み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0" y="358444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132320" y="3584448"/>
            <a:ext cx="155448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顧客ニーズ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72100" y="3520440"/>
            <a:ext cx="1325880" cy="54864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 w="1270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372100" y="3520440"/>
            <a:ext cx="132588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4123944"/>
            <a:ext cx="0" cy="1316736"/>
          </a:xfrm>
          <a:prstGeom prst="line">
            <a:avLst/>
          </a:prstGeom>
          <a:noFill/>
          <a:ln w="1778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800600" y="5413248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800600" y="5413248"/>
            <a:ext cx="246888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重なり ＝ 提供価値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2円型の基本。重なるレンズ部分を強調して共通価値を際立たせる。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purl.oclc.org/ooxml/drawingml/main" xmlns:r="http://purl.oclc.org/ooxml/officeDocument/relationships" xmlns:p="http://purl.oclc.org/ooxml/presentationml/main">
  <p:cSld name="Slide 4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ベン図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4円クラスタ（共有の中心）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69080" y="1920240"/>
            <a:ext cx="2560320" cy="2560320"/>
          </a:xfrm>
          <a:prstGeom prst="ellipse">
            <a:avLst/>
          </a:prstGeom>
          <a:solidFill>
            <a:srgbClr val="1593B8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40680" y="1920240"/>
            <a:ext cx="2560320" cy="2560320"/>
          </a:xfrm>
          <a:prstGeom prst="ellipse">
            <a:avLst/>
          </a:prstGeom>
          <a:solidFill>
            <a:srgbClr val="E0922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069080" y="3108960"/>
            <a:ext cx="2560320" cy="2560320"/>
          </a:xfrm>
          <a:prstGeom prst="ellipse">
            <a:avLst/>
          </a:prstGeom>
          <a:solidFill>
            <a:srgbClr val="1FA98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40680" y="3108960"/>
            <a:ext cx="2560320" cy="2560320"/>
          </a:xfrm>
          <a:prstGeom prst="ellipse">
            <a:avLst/>
          </a:prstGeom>
          <a:solidFill>
            <a:srgbClr val="6C5CA8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000500" y="2404872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000500" y="2404872"/>
            <a:ext cx="96012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09460" y="2404872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109460" y="2404872"/>
            <a:ext cx="96012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00500" y="4782312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00500" y="4782312"/>
            <a:ext cx="96012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09460" y="4782312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109460" y="4782312"/>
            <a:ext cx="96012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26380" y="3566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 w="1270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326380" y="3566160"/>
            <a:ext cx="14173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全体最適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4つの円を2×2で重ね、中央に全要素が交わる共有領域をつくる。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purl.oclc.org/ooxml/drawingml/main" xmlns:r="http://purl.oclc.org/ooxml/officeDocument/relationships" xmlns:p="http://purl.oclc.org/ooxml/presentationml/main">
  <p:cSld name="Slide 4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ベン図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入れ子・同心円（包含関係）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包含関係：市場 ⊃ 顧客 ⊃ コア層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1645920"/>
            <a:ext cx="4297680" cy="4297680"/>
          </a:xfrm>
          <a:prstGeom prst="ellipse">
            <a:avLst/>
          </a:prstGeom>
          <a:solidFill>
            <a:srgbClr val="1FA98F">
              <a:alpha val="58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617720" y="2377440"/>
            <a:ext cx="2834640" cy="2834640"/>
          </a:xfrm>
          <a:prstGeom prst="ellipse">
            <a:avLst/>
          </a:prstGeom>
          <a:solidFill>
            <a:srgbClr val="2B5797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257800" y="3017520"/>
            <a:ext cx="1554480" cy="1554480"/>
          </a:xfrm>
          <a:prstGeom prst="ellipse">
            <a:avLst/>
          </a:prstGeom>
          <a:solidFill>
            <a:srgbClr val="C8536B">
              <a:alpha val="8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532120" y="171907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53212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32120" y="24963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32120" y="2496312"/>
            <a:ext cx="100584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57800" y="3611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87968" y="2313432"/>
            <a:ext cx="237744" cy="237744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281160" y="22677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81160" y="2578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最も広い対象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87968" y="3090672"/>
            <a:ext cx="237744" cy="237744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281160" y="3044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8116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実際の利用者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87968" y="3867912"/>
            <a:ext cx="237744" cy="237744"/>
          </a:xfrm>
          <a:prstGeom prst="ellipse">
            <a:avLst/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281160" y="38221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81160" y="41330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中核の優良層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重なりではなく包含。外側ほど広く、内側ほど核心へ絞り込む構造。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purl.oclc.org/ooxml/drawingml/main" xmlns:r="http://purl.oclc.org/ooxml/officeDocument/relationships" xmlns:p="http://purl.oclc.org/ooxml/presentationml/main">
  <p:cSld name="Slide 4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ベン図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2円 ＋ 共通点リスト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508760" y="2423160"/>
            <a:ext cx="2743200" cy="2743200"/>
          </a:xfrm>
          <a:prstGeom prst="ellipse">
            <a:avLst/>
          </a:prstGeom>
          <a:solidFill>
            <a:srgbClr val="1593B8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880360" y="2423160"/>
            <a:ext cx="2743200" cy="2743200"/>
          </a:xfrm>
          <a:prstGeom prst="ellipse">
            <a:avLst/>
          </a:prstGeom>
          <a:solidFill>
            <a:srgbClr val="C8536B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577340" y="35935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577340" y="3593592"/>
            <a:ext cx="105156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03420" y="35935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3420" y="3593592"/>
            <a:ext cx="105156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63240" y="358444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 w="1270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063240" y="3584448"/>
            <a:ext cx="10058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5212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118872" cy="1481328"/>
          </a:xfrm>
          <a:prstGeom prst="roundRect">
            <a:avLst>
              <a:gd name="adj" fmla="val 23077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176479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・価格帯が近い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395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・品質基準を満たす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26883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・短納期に対応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2918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291840"/>
            <a:ext cx="118872" cy="1188720"/>
          </a:xfrm>
          <a:prstGeom prst="roundRect">
            <a:avLst>
              <a:gd name="adj" fmla="val 23077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46520" y="341071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自社の固有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・独自の技術力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40416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・手厚いサポート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645152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126480" y="4645152"/>
            <a:ext cx="118872" cy="1188720"/>
          </a:xfrm>
          <a:prstGeom prst="roundRect">
            <a:avLst>
              <a:gd name="adj" fmla="val 23077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46520" y="476402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競合の固有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51023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・強いブランド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5394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・広い店舗網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重なりを言語化。共通点と各々の固有点をリストで対比して示す。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purl.oclc.org/ooxml/drawingml/main" xmlns:r="http://purl.oclc.org/ooxml/officeDocument/relationships" xmlns:p="http://purl.oclc.org/ooxml/presentationml/main">
  <p:cSld name="Slide 4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ベン図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3円 ＋ 各重なりラベル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663440" y="1737360"/>
            <a:ext cx="2743200" cy="2743200"/>
          </a:xfrm>
          <a:prstGeom prst="ellipse">
            <a:avLst/>
          </a:prstGeom>
          <a:solidFill>
            <a:srgbClr val="1593B8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0" y="2926080"/>
            <a:ext cx="2743200" cy="2743200"/>
          </a:xfrm>
          <a:prstGeom prst="ellipse">
            <a:avLst/>
          </a:prstGeom>
          <a:solidFill>
            <a:srgbClr val="E0922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0" y="2926080"/>
            <a:ext cx="2743200" cy="2743200"/>
          </a:xfrm>
          <a:prstGeom prst="ellipse">
            <a:avLst/>
          </a:prstGeom>
          <a:solidFill>
            <a:srgbClr val="1FA98F">
              <a:alpha val="62%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532120" y="171907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53212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31920" y="482803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931920" y="4828032"/>
            <a:ext cx="100584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0" y="482803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4828032"/>
            <a:ext cx="1005840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01768" y="335584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01768" y="3355848"/>
            <a:ext cx="82296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0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技×市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45352" y="335584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355848"/>
            <a:ext cx="82296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0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技×チ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4416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623560" y="4416552"/>
            <a:ext cx="82296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0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市×チ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81304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 w="12700">
            <a:solidFill>
              <a:srgbClr val="C853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577840" y="3813048"/>
            <a:ext cx="91440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全要素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対の重なりと中央の三重交差、すべての領域に意味を持たせた型。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purl.oclc.org/ooxml/drawingml/main" xmlns:r="http://purl.oclc.org/ooxml/officeDocument/relationships" xmlns:p="http://purl.oclc.org/ooxml/presentationml/main">
  <p:cSld name="Slide 44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数式（クロス）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FORMULA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要素のかけ合わせ＝成果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A×B＝C（掛け算）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A＋B＝C（足し算）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3要素の合成（＋＋＝）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円のクロス（2円＝結果）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方程式風（左辺＝右辺）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比率・配分（合算＝100%）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20000" dirty="0"/>
          </a:p>
        </p:txBody>
      </p:sp>
    </p:spTree>
  </p:cSld>
  <p:clrMapOvr>
    <a:masterClrMapping/>
  </p:clrMapOvr>
</p:sld>
</file>

<file path=ppt/slides/slide45.xml><?xml version="1.0" encoding="utf-8"?>
<p:sld xmlns:a="http://purl.oclc.org/ooxml/drawingml/main" xmlns:r="http://purl.oclc.org/ooxml/officeDocument/relationships" xmlns:p="http://purl.oclc.org/ooxml/presentationml/main">
  <p:cSld name="Slide 4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数式（クロス）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× B ＝ C（掛け算で成果）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33272" y="3085186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技術力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51560" y="36758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コア技術の蓄積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83864" y="313639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83864" y="309981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8264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471416" y="3085186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発想力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89704" y="36758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自由なアイデア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22008" y="313639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922008" y="309981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836408" y="26060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909560" y="3008376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イノベーション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927848" y="37033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新たな価値創造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異なる強みを掛け合わせると、単なる足し算を超えた成果が生まれる。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掛け算の構図。相乗効果で成果を最大化する関係を表す。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purl.oclc.org/ooxml/drawingml/main" xmlns:r="http://purl.oclc.org/ooxml/officeDocument/relationships" xmlns:p="http://purl.oclc.org/ooxml/presentationml/main">
  <p:cSld name="Slide 4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数式（クロス）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＋ B ＝ C（足し算でシナジー）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33272" y="3085186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自社の強み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51560" y="36758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得意な領域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83864" y="313639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83864" y="309981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8264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471416" y="3085186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市場機会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89704" y="36758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追い風の環境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22008" y="313639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922008" y="309981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836408" y="26060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909560" y="3008376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927848" y="37033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事業の拡大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自社の強みと外部の機会を足し合わせ、成長の原動力に変える。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足し算の構図。要素を積み増して成長につなげる関係に。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purl.oclc.org/ooxml/drawingml/main" xmlns:r="http://purl.oclc.org/ooxml/officeDocument/relationships" xmlns:p="http://purl.oclc.org/ooxml/presentationml/main">
  <p:cSld name="Slide 4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数式（クロス）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3要素の合成（A＋B＋C＝結果）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21792" y="3110789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36667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優れたチーム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05456" y="3200400"/>
            <a:ext cx="640080" cy="640080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505456" y="316382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73552" y="27889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46704" y="3110789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64992" y="36667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効率的な体制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30368" y="3200400"/>
            <a:ext cx="640080" cy="640080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230368" y="316382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998464" y="27889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071616" y="3110789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文化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089904" y="36667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挑戦する風土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3200400"/>
            <a:ext cx="640080" cy="640080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955280" y="316382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723376" y="2651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796528" y="3033979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持続的成長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814816" y="36941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三位一体の成果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3つの要素がそろって初めて、狙った結果に到達する。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3要素の合成。必要条件がそろって結果が出ることを示す。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purl.oclc.org/ooxml/drawingml/main" xmlns:r="http://purl.oclc.org/ooxml/officeDocument/relationships" xmlns:p="http://purl.oclc.org/ooxml/presentationml/main">
  <p:cSld name="Slide 4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数式（クロス）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円のクロス（2円の重なり ＝ 結果）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2286000" cy="2286000"/>
          </a:xfrm>
          <a:prstGeom prst="ellipse">
            <a:avLst/>
          </a:prstGeom>
          <a:solidFill>
            <a:srgbClr val="2B5797">
              <a:alpha val="62%"/>
            </a:srgbClr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017520" y="2377440"/>
            <a:ext cx="2286000" cy="2286000"/>
          </a:xfrm>
          <a:prstGeom prst="ellipse">
            <a:avLst/>
          </a:prstGeom>
          <a:solidFill>
            <a:srgbClr val="1593B8">
              <a:alpha val="62%"/>
            </a:srgbClr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2286000" cy="2286000"/>
          </a:xfrm>
          <a:prstGeom prst="ellipse">
            <a:avLst/>
          </a:prstGeom>
          <a:ln w="19050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017520" y="2377440"/>
            <a:ext cx="2286000" cy="2286000"/>
          </a:xfrm>
          <a:prstGeom prst="ellipse">
            <a:avLst/>
          </a:prstGeom>
          <a:ln w="19050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280160" y="32278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顧客理解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06240" y="32278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技術力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80360" y="330098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重なり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87568" y="313639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687568" y="309981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839712" y="2606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912864" y="3008376"/>
            <a:ext cx="3328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イノベーション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931152" y="3703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共通領域から生まれる価値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2つの領域が重なり合う部分にこそ、新しい価値が生まれる。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2円の重なりで「掛け合わせ」を視覚化。共通領域を強調。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purl.oclc.org/ooxml/drawingml/main" xmlns:r="http://purl.oclc.org/ooxml/officeDocument/relationships" xmlns:p="http://purl.oclc.org/ooxml/presentationml/main">
  <p:cSld name="Slide 4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数式（クロス）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方程式風（左辺の条件群 ＝ 右辺の成果）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4114800" cy="2788920"/>
          </a:xfrm>
          <a:prstGeom prst="roundRect">
            <a:avLst>
              <a:gd name="adj" fmla="val 3934"/>
            </a:avLst>
          </a:prstGeom>
          <a:solidFill>
            <a:srgbClr val="E6EEF8"/>
          </a:solidFill>
          <a:ln w="20320">
            <a:solidFill>
              <a:srgbClr val="1593B8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満たすべき条件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74320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3346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43000" y="3493008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349300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40965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4242816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42428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12080" y="320497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212080" y="316839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345936" y="262890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19088" y="3051353"/>
            <a:ext cx="3694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競争優位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37376" y="37810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選ばれ続ける理由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19379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左辺の条件を満たすほど、右辺の成果は大きくなる。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左辺の条件群と右辺の成果。方程式の体裁で因果を見せる。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purl.oclc.org/ooxml/drawingml/main" xmlns:r="http://purl.oclc.org/ooxml/officeDocument/relationships" xmlns:p="http://purl.oclc.org/ooxml/presentationml/main">
  <p:cSld name="Slide 5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数式（クロス）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比率・配分（構成比の合算 ＝ 成果100%）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構成要素の配分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523744" cy="1097280"/>
          </a:xfrm>
          <a:prstGeom prst="roundRect">
            <a:avLst>
              <a:gd name="adj" fmla="val 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28416" y="2926080"/>
            <a:ext cx="2203704" cy="1097280"/>
          </a:xfrm>
          <a:prstGeom prst="roundRect">
            <a:avLst>
              <a:gd name="adj" fmla="val 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291840" y="30723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345643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68696" y="2926080"/>
            <a:ext cx="1600200" cy="1097280"/>
          </a:xfrm>
          <a:prstGeom prst="roundRect">
            <a:avLst>
              <a:gd name="adj" fmla="val 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532120" y="307238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32120" y="3456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0" y="3090672"/>
            <a:ext cx="768096" cy="768096"/>
          </a:xfrm>
          <a:prstGeom prst="ellipse">
            <a:avLst/>
          </a:prstGeom>
          <a:solidFill>
            <a:srgbClr val="14233A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498080" y="3054096"/>
            <a:ext cx="768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631936" y="26974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705088" y="3039466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 100%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723376" y="3630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全体としての価値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各要素の配分を足し合わせると、全体100％の成果になる。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構成比の合算＝全体100％。配分と総量の関係を表す。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purl.oclc.org/ooxml/drawingml/main" xmlns:r="http://purl.oclc.org/ooxml/officeDocument/relationships" xmlns:p="http://purl.oclc.org/ooxml/presentationml/main">
  <p:cSld name="Slide 51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項目比較図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複数案を項目で比較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表形式（項目×2案）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2カラムカード ○×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3案比較（3列）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メリット／デメリット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機能チェックリスト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スコア比較バー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20000" dirty="0"/>
          </a:p>
        </p:txBody>
      </p:sp>
    </p:spTree>
  </p:cSld>
  <p:clrMapOvr>
    <a:masterClrMapping/>
  </p:clrMapOvr>
</p:sld>
</file>

<file path=ppt/slides/slide52.xml><?xml version="1.0" encoding="utf-8"?>
<p:sld xmlns:a="http://purl.oclc.org/ooxml/drawingml/main" xmlns:r="http://purl.oclc.org/ooxml/officeDocument/relationships" xmlns:p="http://purl.oclc.org/ooxml/presentationml/main">
  <p:cSld name="Slide 5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項目比較図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表形式（項目行 × 2案）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58088" y="1755648"/>
            <a:ext cx="2560320" cy="603504"/>
          </a:xfrm>
          <a:prstGeom prst="roundRect">
            <a:avLst>
              <a:gd name="adj" fmla="val 9091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58088" y="1755648"/>
            <a:ext cx="256032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比較項目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18408" y="1755648"/>
            <a:ext cx="3657600" cy="603504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718408" y="1755648"/>
            <a:ext cx="365760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76008" y="1755648"/>
            <a:ext cx="3657600" cy="603504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76008" y="1755648"/>
            <a:ext cx="365760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プレミアム  (推奨)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58088" y="2359152"/>
            <a:ext cx="256032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158088" y="2359152"/>
            <a:ext cx="256032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18408" y="2359152"/>
            <a:ext cx="36576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718408" y="2359152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¥50,000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76008" y="2359152"/>
            <a:ext cx="36576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76008" y="2359152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¥120,000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58088" y="3072384"/>
            <a:ext cx="2560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158088" y="3072384"/>
            <a:ext cx="256032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導入期間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18408" y="3072384"/>
            <a:ext cx="3657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718408" y="3072384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2週間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76008" y="3072384"/>
            <a:ext cx="36576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376008" y="3072384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58088" y="3785616"/>
            <a:ext cx="256032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158088" y="3785616"/>
            <a:ext cx="256032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18408" y="3785616"/>
            <a:ext cx="36576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718408" y="3785616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76008" y="3785616"/>
            <a:ext cx="36576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7376008" y="3785616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158088" y="4498848"/>
            <a:ext cx="2560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158088" y="4498848"/>
            <a:ext cx="256032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718408" y="4498848"/>
            <a:ext cx="3657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718408" y="4498848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平日のみ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376008" y="4498848"/>
            <a:ext cx="36576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7376008" y="4498848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24時間365日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58088" y="5212080"/>
            <a:ext cx="256032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1158088" y="5212080"/>
            <a:ext cx="256032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718408" y="5212080"/>
            <a:ext cx="36576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3718408" y="5212080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376008" y="5212080"/>
            <a:ext cx="36576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7376008" y="5212080"/>
            <a:ext cx="36576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もっとも基本的な比較表。左に項目、右に2案を並べ推奨案を色で強調。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purl.oclc.org/ooxml/drawingml/main" xmlns:r="http://purl.oclc.org/ooxml/officeDocument/relationships" xmlns:p="http://purl.oclc.org/ooxml/presentationml/main">
  <p:cSld name="Slide 5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項目比較図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2カラムカード ○×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03808" y="1691640"/>
            <a:ext cx="45720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203808" y="169164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386688" y="180136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6688" y="22219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¥50,000 / 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32408" y="271576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18208" y="271576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導入のしやすさ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78128" y="3319272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432408" y="331927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18208" y="331927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コスト優位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78128" y="3922776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432408" y="392277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18208" y="39227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78128" y="4526280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432408" y="452628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18208" y="45262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24h サポート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78128" y="5129784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432408" y="5129784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118208" y="512978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高度セキュリティ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15888" y="1691640"/>
            <a:ext cx="45720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31750">
            <a:solidFill>
              <a:srgbClr val="2B5797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415888" y="169164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598768" y="180136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プレミアム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98768" y="22219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¥120,000 / 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936328" y="17830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936328" y="1783080"/>
            <a:ext cx="9144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1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44488" y="271576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30288" y="271576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導入のしやすさ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90208" y="3319272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644488" y="331927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30288" y="331927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コスト優位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90208" y="3922776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644488" y="392277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330288" y="39227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拡張性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90208" y="4526280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644488" y="452628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30288" y="45262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24h サポート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90208" y="5129784"/>
            <a:ext cx="402336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644488" y="5129784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330288" y="512978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高度セキュリティ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2案をカードで対置。○△✕で対応状況を一覧化し、推奨案を枠線で強調。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purl.oclc.org/ooxml/drawingml/main" xmlns:r="http://purl.oclc.org/ooxml/officeDocument/relationships" xmlns:p="http://purl.oclc.org/ooxml/presentationml/main">
  <p:cSld name="Slide 5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項目比較図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3案比較（松・竹・梅／3列）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0908" y="1755648"/>
            <a:ext cx="2377440" cy="603504"/>
          </a:xfrm>
          <a:prstGeom prst="roundRect">
            <a:avLst>
              <a:gd name="adj" fmla="val 9091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0908" y="1755648"/>
            <a:ext cx="23774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比較項目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38348" y="1755648"/>
            <a:ext cx="2697480" cy="603504"/>
          </a:xfrm>
          <a:prstGeom prst="roundRect">
            <a:avLst>
              <a:gd name="adj" fmla="val 9091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38348" y="1755648"/>
            <a:ext cx="26974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松 プレミアム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35828" y="1755648"/>
            <a:ext cx="2697480" cy="603504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35828" y="1755648"/>
            <a:ext cx="26974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竹 スタンダード  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33308" y="1755648"/>
            <a:ext cx="2697480" cy="603504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633308" y="1755648"/>
            <a:ext cx="269748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梅 ベーシック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0908" y="2359152"/>
            <a:ext cx="237744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60908" y="2359152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8348" y="2359152"/>
            <a:ext cx="2697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238348" y="2359152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¥150,000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35828" y="2359152"/>
            <a:ext cx="269748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35828" y="2359152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¥80,000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33308" y="2359152"/>
            <a:ext cx="2697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633308" y="2359152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¥30,000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0908" y="3072384"/>
            <a:ext cx="23774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60908" y="3072384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月額費用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38348" y="3072384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238348" y="3072384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¥30,000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35828" y="3072384"/>
            <a:ext cx="269748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935828" y="3072384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¥15,000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33308" y="3072384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633308" y="3072384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¥5,000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0908" y="3785616"/>
            <a:ext cx="237744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60908" y="3785616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38348" y="3785616"/>
            <a:ext cx="2697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238348" y="3785616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35828" y="3785616"/>
            <a:ext cx="269748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935828" y="3785616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33308" y="3785616"/>
            <a:ext cx="2697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8633308" y="3785616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0908" y="4498848"/>
            <a:ext cx="23774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860908" y="4498848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38348" y="4498848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3238348" y="4498848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専任担当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35828" y="4498848"/>
            <a:ext cx="269748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935828" y="4498848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33308" y="4498848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633308" y="4498848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平日のみ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60908" y="5212080"/>
            <a:ext cx="237744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60908" y="5212080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38348" y="5212080"/>
            <a:ext cx="2697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3238348" y="5212080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最高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35828" y="5212080"/>
            <a:ext cx="269748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935828" y="5212080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33308" y="5212080"/>
            <a:ext cx="2697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633308" y="5212080"/>
            <a:ext cx="26974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3案を同じ項目で横並び比較。中央の推奨案を色帯で際立たせる構成。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purl.oclc.org/ooxml/drawingml/main" xmlns:r="http://purl.oclc.org/ooxml/officeDocument/relationships" xmlns:p="http://purl.oclc.org/ooxml/presentationml/main">
  <p:cSld name="Slide 5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項目比較図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 / デメリット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46608" y="17373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46608" y="1737360"/>
            <a:ext cx="512064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608" y="2487168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3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1200" y="24871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23848" y="24871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機能が充実し拡張性が高い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6608" y="3236976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3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1200" y="32369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3848" y="323697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24時間365日のサポート体制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6608" y="3986784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3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11200" y="398678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23848" y="398678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高度なセキュリティに対応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6608" y="4736592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3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1200" y="47365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23848" y="47365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大規模利用にも最適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17373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8A98A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324448" y="1737360"/>
            <a:ext cx="512064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デメリット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4448" y="2487168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89040" y="24871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01688" y="24871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初期・月額費用が高い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24448" y="3236976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89040" y="32369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1688" y="323697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小規模利用には過剰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24448" y="3986784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89040" y="398678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01688" y="398678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運用に専門知識が必要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24448" y="4736592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89040" y="47365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01688" y="47365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解約手続きが煩雑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1案の長所と短所を左右に対比。導入判断の根拠を端的に整理する型。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purl.oclc.org/ooxml/drawingml/main" xmlns:r="http://purl.oclc.org/ooxml/officeDocument/relationships" xmlns:p="http://purl.oclc.org/ooxml/presentationml/main">
  <p:cSld name="Slide 5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項目比較図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機能チェックリスト（行 × 列の ○）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32408" y="1755648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432408" y="1755648"/>
            <a:ext cx="3840480" cy="603504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72888" y="1755648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272888" y="1755648"/>
            <a:ext cx="182880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01688" y="1755648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101688" y="1755648"/>
            <a:ext cx="182880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30488" y="1755648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930488" y="1755648"/>
            <a:ext cx="182880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432408" y="2359152"/>
            <a:ext cx="3840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432408" y="2359152"/>
            <a:ext cx="384048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データ容量 無制限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72888" y="2359152"/>
            <a:ext cx="18288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272888" y="235915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01688" y="2359152"/>
            <a:ext cx="18288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01688" y="235915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30488" y="2359152"/>
            <a:ext cx="18288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930488" y="235915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32408" y="3072384"/>
            <a:ext cx="3840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432408" y="3072384"/>
            <a:ext cx="384048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ユーザー数 無制限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72888" y="3072384"/>
            <a:ext cx="1828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272888" y="307238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01688" y="3072384"/>
            <a:ext cx="1828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101688" y="307238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30488" y="3072384"/>
            <a:ext cx="18288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930488" y="307238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32408" y="3785616"/>
            <a:ext cx="3840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432408" y="3785616"/>
            <a:ext cx="384048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連携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272888" y="3785616"/>
            <a:ext cx="18288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272888" y="3785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101688" y="3785616"/>
            <a:ext cx="18288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7101688" y="3785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930488" y="3785616"/>
            <a:ext cx="18288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8930488" y="3785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432408" y="4498848"/>
            <a:ext cx="3840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1432408" y="4498848"/>
            <a:ext cx="384048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優先サポート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272888" y="4498848"/>
            <a:ext cx="1828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272888" y="44988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101688" y="4498848"/>
            <a:ext cx="1828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7101688" y="44988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930488" y="4498848"/>
            <a:ext cx="18288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930488" y="44988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432408" y="5212080"/>
            <a:ext cx="384048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1432408" y="5212080"/>
            <a:ext cx="3840480" cy="71323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95%"/>
              </a:lnSpc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SLA 保証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272888" y="5212080"/>
            <a:ext cx="18288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5272888" y="52120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101688" y="5212080"/>
            <a:ext cx="1828800" cy="71323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7101688" y="52120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930488" y="5212080"/>
            <a:ext cx="1828800" cy="713232"/>
          </a:xfrm>
          <a:prstGeom prst="roundRect">
            <a:avLst/>
          </a:prstGeom>
          <a:solidFill>
            <a:srgbClr val="FBEFDD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930488" y="52120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機能を行、プランを列に取り○△✕で対応可否を一望。上位プランを強調。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purl.oclc.org/ooxml/drawingml/main" xmlns:r="http://purl.oclc.org/ooxml/officeDocument/relationships" xmlns:p="http://purl.oclc.org/ooxml/presentationml/main">
  <p:cSld name="Slide 5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項目比較図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スコア比較（バー／レーティング）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154680" y="1591056"/>
            <a:ext cx="310896" cy="201168"/>
          </a:xfrm>
          <a:prstGeom prst="roundRect">
            <a:avLst>
              <a:gd name="adj" fmla="val 18182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538728" y="15179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1591056"/>
            <a:ext cx="310896" cy="201168"/>
          </a:xfrm>
          <a:prstGeom prst="roundRect">
            <a:avLst>
              <a:gd name="adj" fmla="val 1818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007608" y="15179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プレミアム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コスト効率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54680" y="2203704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2203704"/>
            <a:ext cx="5340096" cy="310896"/>
          </a:xfrm>
          <a:prstGeom prst="roundRect">
            <a:avLst>
              <a:gd name="adj" fmla="val 14706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921240" y="22037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54680" y="2587752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154680" y="2587752"/>
            <a:ext cx="4005072" cy="310896"/>
          </a:xfrm>
          <a:prstGeom prst="roundRect">
            <a:avLst>
              <a:gd name="adj" fmla="val 14706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921240" y="25877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3008376"/>
            <a:ext cx="960120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68680" y="308152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機能性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154680" y="3136392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154680" y="3136392"/>
            <a:ext cx="4005072" cy="310896"/>
          </a:xfrm>
          <a:prstGeom prst="roundRect">
            <a:avLst>
              <a:gd name="adj" fmla="val 14706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921240" y="313639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54680" y="3520440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3154680" y="3520440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9921240" y="35204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3941064"/>
            <a:ext cx="960120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68680" y="401421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使いやすさ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154680" y="4069080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154680" y="4069080"/>
            <a:ext cx="5340096" cy="310896"/>
          </a:xfrm>
          <a:prstGeom prst="roundRect">
            <a:avLst>
              <a:gd name="adj" fmla="val 14706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921240" y="406908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154680" y="4453128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154680" y="4453128"/>
            <a:ext cx="5340096" cy="310896"/>
          </a:xfrm>
          <a:prstGeom prst="roundRect">
            <a:avLst>
              <a:gd name="adj" fmla="val 14706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921240" y="445312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" y="4873752"/>
            <a:ext cx="9601200" cy="0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68680" y="494690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154680" y="5001768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3154680" y="5001768"/>
            <a:ext cx="2670048" cy="310896"/>
          </a:xfrm>
          <a:prstGeom prst="roundRect">
            <a:avLst>
              <a:gd name="adj" fmla="val 14706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9921240" y="500176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154680" y="5385816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3154680" y="5385816"/>
            <a:ext cx="6675120" cy="310896"/>
          </a:xfrm>
          <a:prstGeom prst="roundRect">
            <a:avLst>
              <a:gd name="adj" fmla="val 14706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9921240" y="538581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5.0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評価軸ごとに2案をバー長で可視化。差が一目で分かるスコア比較。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purl.oclc.org/ooxml/drawingml/main" xmlns:r="http://purl.oclc.org/ooxml/officeDocument/relationships" xmlns:p="http://purl.oclc.org/ooxml/presentationml/main">
  <p:cSld name="Slide 58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09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規模比較図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SCALE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大きさ・量の対比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円サイズ比較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横棒の長さ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縦棒（成長）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同心円スケール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ユニット積み上げ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アイコン反復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20000" dirty="0"/>
          </a:p>
        </p:txBody>
      </p:sp>
    </p:spTree>
  </p:cSld>
  <p:clrMapOvr>
    <a:masterClrMapping/>
  </p:clrMapOvr>
</p:sld>
</file>

<file path=ppt/slides/slide59.xml><?xml version="1.0" encoding="utf-8"?>
<p:sld xmlns:a="http://purl.oclc.org/ooxml/drawingml/main" xmlns:r="http://purl.oclc.org/ooxml/officeDocument/relationships" xmlns:p="http://purl.oclc.org/ooxml/presentationml/main">
  <p:cSld name="Slide 5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規模比較図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円サイズ比較（基本形）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05840" y="5486400"/>
            <a:ext cx="10149840" cy="0"/>
          </a:xfrm>
          <a:prstGeom prst="line">
            <a:avLst/>
          </a:prstGeom>
          <a:noFill/>
          <a:ln w="2540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828800" y="4389120"/>
            <a:ext cx="1097280" cy="1097280"/>
          </a:xfrm>
          <a:prstGeom prst="ellipse">
            <a:avLst/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828800" y="471830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00200" y="55961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3566160"/>
            <a:ext cx="1920240" cy="1920240"/>
          </a:xfrm>
          <a:prstGeom prst="ellipse">
            <a:avLst/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63440" y="430682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260億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55961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2743200"/>
            <a:ext cx="2743200" cy="2743200"/>
          </a:xfrm>
          <a:prstGeom prst="ellipse">
            <a:avLst/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863840" y="389534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520億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58200" y="55961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18120" y="1664208"/>
            <a:ext cx="3474720" cy="603504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818120" y="1664208"/>
            <a:ext cx="347472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6年で約 5.2倍 に拡大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面積（円の大きさ）で規模を直感的に。共通の基準線に底を揃えて公平に比較。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purl.oclc.org/ooxml/drawingml/main" xmlns:r="http://purl.oclc.org/ooxml/officeDocument/relationships" xmlns:p="http://purl.oclc.org/ooxml/presentationml/main">
  <p:cSld name="Slide 6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規模比較図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横棒の長さ比較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88920" y="1664208"/>
            <a:ext cx="0" cy="4005072"/>
          </a:xfrm>
          <a:prstGeom prst="line">
            <a:avLst/>
          </a:prstGeom>
          <a:noFill/>
          <a:ln w="2540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788920" y="1828800"/>
            <a:ext cx="1318846" cy="676656"/>
          </a:xfrm>
          <a:prstGeom prst="roundRect">
            <a:avLst>
              <a:gd name="adj" fmla="val 8108"/>
            </a:avLst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44926" y="1828800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100億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2907792"/>
            <a:ext cx="2373923" cy="676656"/>
          </a:xfrm>
          <a:prstGeom prst="roundRect">
            <a:avLst>
              <a:gd name="adj" fmla="val 8108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300003" y="2907792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7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788920" y="3986784"/>
            <a:ext cx="3956538" cy="676656"/>
          </a:xfrm>
          <a:prstGeom prst="roundRect">
            <a:avLst>
              <a:gd name="adj" fmla="val 8108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82618" y="3986784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5065776"/>
            <a:ext cx="6858000" cy="676656"/>
          </a:xfrm>
          <a:prstGeom prst="roundRect">
            <a:avLst>
              <a:gd name="adj" fmla="val 8108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5800" y="5065776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784080" y="5065776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520億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棒の長さ＝量。左の共通軸から伸ばし、端に数値を置いて差を読みやすく。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purl.oclc.org/ooxml/drawingml/main" xmlns:r="http://purl.oclc.org/ooxml/officeDocument/relationships" xmlns:p="http://purl.oclc.org/ooxml/presentationml/main">
  <p:cSld name="Slide 6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規模比較図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縦棒（成長グラフ風）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5486400"/>
            <a:ext cx="10332720" cy="0"/>
          </a:xfrm>
          <a:prstGeom prst="line">
            <a:avLst/>
          </a:prstGeom>
          <a:noFill/>
          <a:ln w="2540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71600" y="4835769"/>
            <a:ext cx="1234440" cy="650631"/>
          </a:xfrm>
          <a:prstGeom prst="roundRect">
            <a:avLst>
              <a:gd name="adj" fmla="val 7027"/>
            </a:avLst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43000" y="4488297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55778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4510454"/>
            <a:ext cx="1234440" cy="975946"/>
          </a:xfrm>
          <a:prstGeom prst="roundRect">
            <a:avLst>
              <a:gd name="adj" fmla="val 4685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154680" y="416298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55778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0" y="3989949"/>
            <a:ext cx="1234440" cy="1496451"/>
          </a:xfrm>
          <a:prstGeom prst="roundRect">
            <a:avLst>
              <a:gd name="adj" fmla="val 3704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166360" y="3642477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230億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55778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3209192"/>
            <a:ext cx="1234440" cy="2277208"/>
          </a:xfrm>
          <a:prstGeom prst="roundRect">
            <a:avLst>
              <a:gd name="adj" fmla="val 3704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178040" y="286172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350億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55778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0" y="2103120"/>
            <a:ext cx="1234440" cy="3383280"/>
          </a:xfrm>
          <a:prstGeom prst="roundRect">
            <a:avLst>
              <a:gd name="adj" fmla="val 3704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189720" y="1755648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520億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18320" y="55778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右肩上がりを縦棒の高さで表現。年次推移や成長トレンドの提示に最適。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purl.oclc.org/ooxml/drawingml/main" xmlns:r="http://purl.oclc.org/ooxml/officeDocument/relationships" xmlns:p="http://purl.oclc.org/ooxml/presentationml/main">
  <p:cSld name="Slide 6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規模比較図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同心円（入れ子スケール）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783080" y="1719072"/>
            <a:ext cx="4206240" cy="4206240"/>
          </a:xfrm>
          <a:prstGeom prst="ellipse">
            <a:avLst/>
          </a:prstGeom>
          <a:solidFill>
            <a:srgbClr val="DCE7F6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783080" y="18470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全市場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68880" y="2404872"/>
            <a:ext cx="2834640" cy="2834640"/>
          </a:xfrm>
          <a:prstGeom prst="ellipse">
            <a:avLst/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468880" y="253288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対象市場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36392" y="3072384"/>
            <a:ext cx="1499616" cy="1499616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136392" y="3200400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23865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E7F6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47888" y="23317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全市場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47888" y="2633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32278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A7BC8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247888" y="317296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対象市場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47888" y="34747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520億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40690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247888" y="401421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47888" y="43159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130億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包含関係を入れ子の円で表現。全体→対象→自社と、スコープの大小を一目で。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purl.oclc.org/ooxml/drawingml/main" xmlns:r="http://purl.oclc.org/ooxml/officeDocument/relationships" xmlns:p="http://purl.oclc.org/ooxml/presentationml/main">
  <p:cSld name="Slide 6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規模比較図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ユニット積み上げ（1マス＝100億）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011680" cy="365760"/>
          </a:xfrm>
          <a:prstGeom prst="roundRect">
            <a:avLst>
              <a:gd name="adj" fmla="val 17500"/>
            </a:avLst>
          </a:prstGeom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76656" y="16459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24128" y="16276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100億円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0574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06040" y="20574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410712" y="20574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35204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06040" y="3520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319272" y="3520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032504" y="3520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837176" y="35204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8368" y="49834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06040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319272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032504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745736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58968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A98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263640" y="49834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500億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1マス＝100億として数を並べる。マスの個数で倍率（1:3:5）を視覚化。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purl.oclc.org/ooxml/drawingml/main" xmlns:r="http://purl.oclc.org/ooxml/officeDocument/relationships" xmlns:p="http://purl.oclc.org/ooxml/presentationml/main">
  <p:cSld name="Slide 6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規模比較図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アイコン反復（量の比較）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412480" y="1627632"/>
            <a:ext cx="237744" cy="36576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732520" y="1627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アイコン1個 ＝ 65億円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0" y="205740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907792" y="205740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456432" y="205740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130億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35204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68880" y="352044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907792" y="352044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346704" y="352044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785616" y="352044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334256" y="35204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260億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" y="49834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468880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907792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346704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785616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224528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102352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541264" y="4983480"/>
            <a:ext cx="329184" cy="493776"/>
          </a:xfrm>
          <a:prstGeom prst="roundRect">
            <a:avLst>
              <a:gd name="adj" fmla="val 3611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089904" y="49834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520億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同じアイコンを量に応じて反復。個数の差で規模の倍率を直観的に伝える。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purl.oclc.org/ooxml/drawingml/main" xmlns:r="http://purl.oclc.org/ooxml/officeDocument/relationships" xmlns:p="http://purl.oclc.org/ooxml/presentationml/main">
  <p:cSld name="Slide 65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階段・ステップ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段階的な成長・到達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上り階段ブロック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番号ステップ＋上昇矢印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山型（頂点ゴール）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横並び＋達成度バー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立体段（影付き）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上昇する円ノード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20000" dirty="0"/>
          </a:p>
        </p:txBody>
      </p:sp>
    </p:spTree>
  </p:cSld>
  <p:clrMapOvr>
    <a:masterClrMapping/>
  </p:clrMapOvr>
</p:sld>
</file>

<file path=ppt/slides/slide66.xml><?xml version="1.0" encoding="utf-8"?>
<p:sld xmlns:a="http://purl.oclc.org/ooxml/drawingml/main" xmlns:r="http://purl.oclc.org/ooxml/officeDocument/relationships" xmlns:p="http://purl.oclc.org/ooxml/presentationml/main">
  <p:cSld name="Slide 6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階段・ステップ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上り階段ブロック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86968" y="44805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1560" y="4608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490118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537667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サービスを知る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356616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730752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30752" y="398678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30752" y="446227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比較・評価する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5352" y="265176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09944" y="2779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9944" y="307238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354787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利用を開始する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1737360"/>
            <a:ext cx="2377440" cy="4114800"/>
          </a:xfrm>
          <a:prstGeom prst="roundRect">
            <a:avLst>
              <a:gd name="adj" fmla="val 3077"/>
            </a:avLst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089136" y="18653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89136" y="215798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定着・拡大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89136" y="263347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活用が広がる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右肩上がりのブロックで段階的な成長・到達を直感的に示す基本形。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purl.oclc.org/ooxml/drawingml/main" xmlns:r="http://purl.oclc.org/ooxml/officeDocument/relationships" xmlns:p="http://purl.oclc.org/ooxml/presentationml/main">
  <p:cSld name="Slide 6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階段・ステップ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番号ステップ ＋ 上昇矢印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flipV="1">
            <a:off x="914400" y="1828800"/>
            <a:ext cx="9784080" cy="3794760"/>
          </a:xfrm>
          <a:prstGeom prst="line">
            <a:avLst/>
          </a:prstGeom>
          <a:noFill/>
          <a:ln w="38100">
            <a:solidFill>
              <a:srgbClr val="E0922F"/>
            </a:solidFill>
            <a:prstDash val="dash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85800" y="448056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32104" y="46451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32104" y="4645152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72184" y="4663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285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サービスを知る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361188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419856" y="3776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73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419856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59936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56432" y="4416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比較・評価する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61304" y="274320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007608" y="29077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007608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47688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44184" y="3547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利用を開始する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49056" y="187452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595360" y="2039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59536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定着・拡大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31936" y="2679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活用が広がる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カードを斜めに配置し、背後の上昇矢印で前進と成長の勢いを表現。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purl.oclc.org/ooxml/drawingml/main" xmlns:r="http://purl.oclc.org/ooxml/officeDocument/relationships" xmlns:p="http://purl.oclc.org/ooxml/presentationml/main">
  <p:cSld name="Slide 6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階段・ステップ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山型（頂点ゴール／旗）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0" y="1874520"/>
            <a:ext cx="8531352" cy="3931920"/>
          </a:xfrm>
          <a:prstGeom prst="triangle">
            <a:avLst/>
          </a:prstGeom>
          <a:solidFill>
            <a:srgbClr val="E6EEF8"/>
          </a:solidFill>
          <a:ln w="19050">
            <a:solidFill>
              <a:srgbClr val="E092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151675" y="4981651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151675" y="4981651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7475" y="5009083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837475" y="5009083"/>
            <a:ext cx="21031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31377" y="3802075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431377" y="3802075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7177" y="3829507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117177" y="3829507"/>
            <a:ext cx="21031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11080" y="262249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711080" y="2622499"/>
            <a:ext cx="548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6880" y="2649931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396880" y="2649931"/>
            <a:ext cx="21031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82996" y="1709928"/>
            <a:ext cx="822960" cy="822960"/>
          </a:xfrm>
          <a:prstGeom prst="star5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597396" y="18288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97396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  定着・拡大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頂上のゴール（★）に向け、要所を踏みながら登りつめる到達イメージ。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purl.oclc.org/ooxml/drawingml/main" xmlns:r="http://purl.oclc.org/ooxml/officeDocument/relationships" xmlns:p="http://purl.oclc.org/ooxml/presentationml/main">
  <p:cSld name="Slide 6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階段・ステップ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横並びステップ ＋ 達成度バー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86968" y="233172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69848" y="25328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69848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3272" y="322783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3666744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サービスを知る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9848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達成度 25%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9848" y="4370832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69848" y="437083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4A7B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566160" y="233172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749040" y="25328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E73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74904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12464" y="322783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12464" y="3666744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比較・評価する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達成度 50%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4370832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749040" y="437083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2E73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245352" y="233172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428232" y="25328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28232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91656" y="322783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91656" y="3666744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利用を開始する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28232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達成度 75%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28232" y="4370832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428232" y="43708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924544" y="233172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9107424" y="25328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107424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070848" y="322783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定着・拡大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70848" y="3666744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活用が広がる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07424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達成度 100%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07424" y="4370832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9107424" y="4370832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等間隔のカードに達成度バーを添え、進捗の積み上がりを定量的に表示。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purl.oclc.org/ooxml/drawingml/main" xmlns:r="http://purl.oclc.org/ooxml/officeDocument/relationships" xmlns:p="http://purl.oclc.org/ooxml/presentationml/main">
  <p:cSld name="Slide 7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階段・ステップ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立体段（影付き）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46120" y="4754880"/>
            <a:ext cx="502920" cy="365760"/>
          </a:xfrm>
          <a:prstGeom prst="roundRect">
            <a:avLst>
              <a:gd name="adj" fmla="val 5000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23560" y="3794760"/>
            <a:ext cx="502920" cy="365760"/>
          </a:xfrm>
          <a:prstGeom prst="roundRect">
            <a:avLst>
              <a:gd name="adj" fmla="val 5000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001000" y="2834640"/>
            <a:ext cx="502920" cy="365760"/>
          </a:xfrm>
          <a:prstGeom prst="roundRect">
            <a:avLst>
              <a:gd name="adj" fmla="val 5000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68680" y="5120640"/>
            <a:ext cx="2377440" cy="594360"/>
          </a:xfrm>
          <a:prstGeom prst="roundRect">
            <a:avLst>
              <a:gd name="adj" fmla="val 7692"/>
            </a:avLst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96696" y="5193792"/>
            <a:ext cx="448056" cy="448056"/>
          </a:xfrm>
          <a:prstGeom prst="roundRect">
            <a:avLst>
              <a:gd name="adj" fmla="val 510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96696" y="5193792"/>
            <a:ext cx="448056" cy="448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4A7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7048" y="512064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246120" y="4160520"/>
            <a:ext cx="2377440" cy="594360"/>
          </a:xfrm>
          <a:prstGeom prst="roundRect">
            <a:avLst>
              <a:gd name="adj" fmla="val 7692"/>
            </a:avLst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374136" y="4233672"/>
            <a:ext cx="448056" cy="448056"/>
          </a:xfrm>
          <a:prstGeom prst="roundRect">
            <a:avLst>
              <a:gd name="adj" fmla="val 510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374136" y="4233672"/>
            <a:ext cx="448056" cy="448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2E7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04488" y="416052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23560" y="3200400"/>
            <a:ext cx="2377440" cy="594360"/>
          </a:xfrm>
          <a:prstGeom prst="roundRect">
            <a:avLst>
              <a:gd name="adj" fmla="val 7692"/>
            </a:avLst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751576" y="3273552"/>
            <a:ext cx="448056" cy="448056"/>
          </a:xfrm>
          <a:prstGeom prst="roundRect">
            <a:avLst>
              <a:gd name="adj" fmla="val 510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751576" y="3273552"/>
            <a:ext cx="448056" cy="448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81928" y="32004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001000" y="2240280"/>
            <a:ext cx="2377440" cy="594360"/>
          </a:xfrm>
          <a:prstGeom prst="roundRect">
            <a:avLst>
              <a:gd name="adj" fmla="val 7692"/>
            </a:avLst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129016" y="2313432"/>
            <a:ext cx="448056" cy="448056"/>
          </a:xfrm>
          <a:prstGeom prst="roundRect">
            <a:avLst>
              <a:gd name="adj" fmla="val 510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129016" y="2313432"/>
            <a:ext cx="448056" cy="448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59368" y="22402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定着・拡大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影で立体感を持たせた段。一段ずつ確実に上がっていく過程を演出。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purl.oclc.org/ooxml/drawingml/main" xmlns:r="http://purl.oclc.org/ooxml/officeDocument/relationships" xmlns:p="http://purl.oclc.org/ooxml/presentationml/main">
  <p:cSld name="Slide 7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階段・ステップ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上昇する円ノード（斜めタイムライン）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flipV="1">
            <a:off x="1280160" y="2103120"/>
            <a:ext cx="9464040" cy="3291840"/>
          </a:xfrm>
          <a:prstGeom prst="line">
            <a:avLst/>
          </a:prstGeom>
          <a:noFill/>
          <a:ln w="31750">
            <a:solidFill>
              <a:srgbClr val="AEBFD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68680" y="4983480"/>
            <a:ext cx="822960" cy="822960"/>
          </a:xfrm>
          <a:prstGeom prst="ellipse">
            <a:avLst/>
          </a:prstGeom>
          <a:solidFill>
            <a:srgbClr val="4A7BC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6868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4919472"/>
            <a:ext cx="2103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938528" y="5010912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38528" y="543153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サービスを知る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0" y="3886200"/>
            <a:ext cx="822960" cy="822960"/>
          </a:xfrm>
          <a:prstGeom prst="ellipse">
            <a:avLst/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023360" y="3886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83480" y="3822192"/>
            <a:ext cx="2103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93208" y="3913632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93208" y="433425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比較・評価する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2788920"/>
            <a:ext cx="822960" cy="822960"/>
          </a:xfrm>
          <a:prstGeom prst="ellipse">
            <a:avLst/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2724912"/>
            <a:ext cx="2103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247888" y="2816352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47888" y="323697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利用を開始する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32720" y="1691640"/>
            <a:ext cx="822960" cy="822960"/>
          </a:xfrm>
          <a:prstGeom prst="ellipse">
            <a:avLst/>
          </a:prstGeom>
          <a:solidFill>
            <a:srgbClr val="E0922F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033272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92440" y="1627632"/>
            <a:ext cx="2103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202168" y="1719072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定着・拡大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02168" y="213969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活用が広がる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右肩上がりの斜めタイムライン上に節目を置き、着実な前進を表す。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purl.oclc.org/ooxml/drawingml/main" xmlns:r="http://purl.oclc.org/ooxml/officeDocument/relationships" xmlns:p="http://purl.oclc.org/ooxml/presentationml/main">
  <p:cSld name="Slide 72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ガントチャート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GANTT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タスクと期間の計画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月次バー（M1–M6）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四半期（Q1–Q4）粗め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フェーズ色分け＋マイルストン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進捗％付きバー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週次（W1–W8）細かめ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シンプル（3×3）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20000" dirty="0"/>
          </a:p>
        </p:txBody>
      </p:sp>
    </p:spTree>
  </p:cSld>
  <p:clrMapOvr>
    <a:masterClrMapping/>
  </p:clrMapOvr>
</p:sld>
</file>

<file path=ppt/slides/slide73.xml><?xml version="1.0" encoding="utf-8"?>
<p:sld xmlns:a="http://purl.oclc.org/ooxml/drawingml/main" xmlns:r="http://purl.oclc.org/ooxml/officeDocument/relationships" xmlns:p="http://purl.oclc.org/ooxml/presentationml/main">
  <p:cSld name="Slide 7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ガントチャート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月次バー（M1–M6）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35864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79120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22376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65632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008888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52144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926080" y="2121408"/>
            <a:ext cx="8595360" cy="0"/>
          </a:xfrm>
          <a:prstGeom prst="line">
            <a:avLst/>
          </a:prstGeom>
          <a:noFill/>
          <a:ln w="1524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5864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9120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5632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8888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22494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90088" y="2322576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22648" y="3072384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58368" y="3749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55208" y="3822192"/>
            <a:ext cx="4169664" cy="365760"/>
          </a:xfrm>
          <a:prstGeom prst="roundRect">
            <a:avLst>
              <a:gd name="adj" fmla="val 25000"/>
            </a:avLst>
          </a:prstGeom>
          <a:solidFill>
            <a:srgbClr val="2E73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4988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20328" y="4572000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58368" y="52486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リリース準備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52888" y="5321808"/>
            <a:ext cx="1304544" cy="365760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月単位の基本ガント。各タスクの開始月と期間をバーで一目に。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purl.oclc.org/ooxml/drawingml/main" xmlns:r="http://purl.oclc.org/ooxml/officeDocument/relationships" xmlns:p="http://purl.oclc.org/ooxml/presentationml/main">
  <p:cSld name="Slide 7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ガントチャート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四半期（Q1–Q4）粗め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0" cy="4078224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074920" y="2121408"/>
            <a:ext cx="0" cy="4078224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7223760" y="2121408"/>
            <a:ext cx="0" cy="4078224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372600" y="2121408"/>
            <a:ext cx="0" cy="4078224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521440" y="2121408"/>
            <a:ext cx="0" cy="4078224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926080" y="2121408"/>
            <a:ext cx="8595360" cy="0"/>
          </a:xfrm>
          <a:prstGeom prst="line">
            <a:avLst/>
          </a:prstGeom>
          <a:noFill/>
          <a:ln w="1524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926080" y="17922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74920" y="17922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17922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72600" y="17922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224942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90088" y="2331720"/>
            <a:ext cx="2020824" cy="402336"/>
          </a:xfrm>
          <a:prstGeom prst="roundRect">
            <a:avLst>
              <a:gd name="adj" fmla="val 27273"/>
            </a:avLst>
          </a:prstGeom>
          <a:solidFill>
            <a:srgbClr val="1B3A5C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58368" y="30723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38928" y="3154680"/>
            <a:ext cx="2020824" cy="402336"/>
          </a:xfrm>
          <a:prstGeom prst="roundRect">
            <a:avLst>
              <a:gd name="adj" fmla="val 27273"/>
            </a:avLst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8368" y="389534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38928" y="3977640"/>
            <a:ext cx="4169664" cy="402336"/>
          </a:xfrm>
          <a:prstGeom prst="roundRect">
            <a:avLst>
              <a:gd name="adj" fmla="val 27273"/>
            </a:avLst>
          </a:prstGeom>
          <a:solidFill>
            <a:srgbClr val="2E73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58368" y="471830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87768" y="4800600"/>
            <a:ext cx="4169664" cy="402336"/>
          </a:xfrm>
          <a:prstGeom prst="roundRect">
            <a:avLst>
              <a:gd name="adj" fmla="val 27273"/>
            </a:avLst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58368" y="55412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リリース準備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36608" y="5623560"/>
            <a:ext cx="2020824" cy="402336"/>
          </a:xfrm>
          <a:prstGeom prst="roundRect">
            <a:avLst>
              <a:gd name="adj" fmla="val 27273"/>
            </a:avLst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四半期の粗い目盛り。年間ロードマップの大枠を示すのに最適。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purl.oclc.org/ooxml/drawingml/main" xmlns:r="http://purl.oclc.org/ooxml/officeDocument/relationships" xmlns:p="http://purl.oclc.org/ooxml/presentationml/main">
  <p:cSld name="Slide 7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ガントチャート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フェーズ色分け ＋ マイルストン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35864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79120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22376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65632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008888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52144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926080" y="2121408"/>
            <a:ext cx="8595360" cy="0"/>
          </a:xfrm>
          <a:prstGeom prst="line">
            <a:avLst/>
          </a:prstGeom>
          <a:noFill/>
          <a:ln w="1524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5864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9120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5632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8888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22494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90088" y="2322576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22648" y="3072384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58368" y="3749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55208" y="3822192"/>
            <a:ext cx="4169664" cy="365760"/>
          </a:xfrm>
          <a:prstGeom prst="roundRect">
            <a:avLst>
              <a:gd name="adj" fmla="val 25000"/>
            </a:avLst>
          </a:prstGeom>
          <a:solidFill>
            <a:srgbClr val="2E73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4988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20328" y="4572000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58368" y="52486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リリース準備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52888" y="5321808"/>
            <a:ext cx="1304544" cy="365760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5672328" y="2386584"/>
            <a:ext cx="237744" cy="237744"/>
          </a:xfrm>
          <a:prstGeom prst="diamond">
            <a:avLst/>
          </a:prstGeom>
          <a:solidFill>
            <a:srgbClr val="6C5CA8"/>
          </a:solidFill>
          <a:ln w="15875">
            <a:solidFill>
              <a:srgbClr val="FFFFFF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013960" y="20299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要件確定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04888" y="3136392"/>
            <a:ext cx="237744" cy="237744"/>
          </a:xfrm>
          <a:prstGeom prst="diamond">
            <a:avLst/>
          </a:prstGeom>
          <a:solidFill>
            <a:srgbClr val="6C5CA8"/>
          </a:solidFill>
          <a:ln w="15875">
            <a:solidFill>
              <a:srgbClr val="FFFFFF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46520" y="27797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設計完了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70008" y="3886200"/>
            <a:ext cx="237744" cy="237744"/>
          </a:xfrm>
          <a:prstGeom prst="diamond">
            <a:avLst/>
          </a:prstGeom>
          <a:solidFill>
            <a:srgbClr val="6C5CA8"/>
          </a:solidFill>
          <a:ln w="15875">
            <a:solidFill>
              <a:srgbClr val="FFFFFF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9311640" y="35295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β版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1402568" y="5385816"/>
            <a:ext cx="237744" cy="237744"/>
          </a:xfrm>
          <a:prstGeom prst="diamond">
            <a:avLst/>
          </a:prstGeom>
          <a:solidFill>
            <a:srgbClr val="6C5CA8"/>
          </a:solidFill>
          <a:ln w="15875">
            <a:solidFill>
              <a:srgbClr val="FFFFFF"/>
            </a:solidFill>
            <a:prstDash val="solid"/>
          </a:ln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10744200" y="50292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フェーズごとに色分けし、節目を◆マイルストンで明示する型。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purl.oclc.org/ooxml/drawingml/main" xmlns:r="http://purl.oclc.org/ooxml/officeDocument/relationships" xmlns:p="http://purl.oclc.org/ooxml/presentationml/main">
  <p:cSld name="Slide 7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ガントチャート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進捗％付きバー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35864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79120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22376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65632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0088880" y="2121408"/>
            <a:ext cx="0" cy="3730752"/>
          </a:xfrm>
          <a:prstGeom prst="line">
            <a:avLst/>
          </a:prstGeom>
          <a:noFill/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52144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926080" y="2121408"/>
            <a:ext cx="8595360" cy="0"/>
          </a:xfrm>
          <a:prstGeom prst="line">
            <a:avLst/>
          </a:prstGeom>
          <a:noFill/>
          <a:ln w="1524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5864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9120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5632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88880" y="1792224"/>
            <a:ext cx="143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22494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90088" y="2322576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DCE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990088" y="2322576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800344" y="23225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299923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22648" y="3072384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E6EE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422648" y="3072384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232904" y="30723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3749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5208" y="3822192"/>
            <a:ext cx="4169664" cy="365760"/>
          </a:xfrm>
          <a:prstGeom prst="roundRect">
            <a:avLst>
              <a:gd name="adj" fmla="val 25000"/>
            </a:avLst>
          </a:prstGeom>
          <a:solidFill>
            <a:srgbClr val="E2F0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5855208" y="3822192"/>
            <a:ext cx="2501798" cy="365760"/>
          </a:xfrm>
          <a:prstGeom prst="roundRect">
            <a:avLst>
              <a:gd name="adj" fmla="val 25000"/>
            </a:avLst>
          </a:prstGeom>
          <a:solidFill>
            <a:srgbClr val="2E73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098024" y="38221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44988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720328" y="4572000"/>
            <a:ext cx="2737104" cy="365760"/>
          </a:xfrm>
          <a:prstGeom prst="roundRect">
            <a:avLst>
              <a:gd name="adj" fmla="val 25000"/>
            </a:avLst>
          </a:prstGeom>
          <a:solidFill>
            <a:srgbClr val="E2F1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8720328" y="4572000"/>
            <a:ext cx="547421" cy="365760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11530584" y="4572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" y="52486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リリース準備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152888" y="5321808"/>
            <a:ext cx="1304544" cy="365760"/>
          </a:xfrm>
          <a:prstGeom prst="roundRect">
            <a:avLst>
              <a:gd name="adj" fmla="val 25000"/>
            </a:avLst>
          </a:prstGeom>
          <a:solidFill>
            <a:srgbClr val="E3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1530584" y="53218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23760" y="2121408"/>
            <a:ext cx="0" cy="3730752"/>
          </a:xfrm>
          <a:prstGeom prst="line">
            <a:avLst/>
          </a:prstGeom>
          <a:noFill/>
          <a:ln w="25400">
            <a:solidFill>
              <a:srgbClr val="6C5CA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766560" y="18653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各バーに進捗％を重ね、Today線で計画と実績の差を可視化。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purl.oclc.org/ooxml/drawingml/main" xmlns:r="http://purl.oclc.org/ooxml/officeDocument/relationships" xmlns:p="http://purl.oclc.org/ooxml/presentationml/main">
  <p:cSld name="Slide 7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ガントチャート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週次（W1–W8）細かめ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00050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07492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14934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22376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29818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37260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447020" y="2121408"/>
            <a:ext cx="0" cy="3730752"/>
          </a:xfrm>
          <a:prstGeom prst="line">
            <a:avLst/>
          </a:prstGeom>
          <a:noFill/>
          <a:ln w="952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521440" y="2121408"/>
            <a:ext cx="0" cy="3730752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926080" y="2121408"/>
            <a:ext cx="8595360" cy="0"/>
          </a:xfrm>
          <a:prstGeom prst="line">
            <a:avLst/>
          </a:prstGeom>
          <a:noFill/>
          <a:ln w="1524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92608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0050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4934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9818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7260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447020" y="1792224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W8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22494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90088" y="2340864"/>
            <a:ext cx="2020824" cy="329184"/>
          </a:xfrm>
          <a:prstGeom prst="roundRect">
            <a:avLst>
              <a:gd name="adj" fmla="val 22222"/>
            </a:avLst>
          </a:prstGeom>
          <a:solidFill>
            <a:srgbClr val="1B3A5C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58368" y="299923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64508" y="3090672"/>
            <a:ext cx="2020824" cy="329184"/>
          </a:xfrm>
          <a:prstGeom prst="roundRect">
            <a:avLst>
              <a:gd name="adj" fmla="val 22222"/>
            </a:avLst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58368" y="3749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3348" y="3840480"/>
            <a:ext cx="3095244" cy="329184"/>
          </a:xfrm>
          <a:prstGeom prst="roundRect">
            <a:avLst>
              <a:gd name="adj" fmla="val 22222"/>
            </a:avLst>
          </a:prstGeom>
          <a:solidFill>
            <a:srgbClr val="2E73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58368" y="44988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62188" y="4590288"/>
            <a:ext cx="2020824" cy="329184"/>
          </a:xfrm>
          <a:prstGeom prst="roundRect">
            <a:avLst>
              <a:gd name="adj" fmla="val 22222"/>
            </a:avLst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2486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リリース準備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511028" y="5340096"/>
            <a:ext cx="946404" cy="329184"/>
          </a:xfrm>
          <a:prstGeom prst="roundRect">
            <a:avLst>
              <a:gd name="adj" fmla="val 22222"/>
            </a:avLst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週単位の細かい目盛り。短期スプリントの進行管理に向く。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purl.oclc.org/ooxml/drawingml/main" xmlns:r="http://purl.oclc.org/ooxml/officeDocument/relationships" xmlns:p="http://purl.oclc.org/ooxml/presentationml/main">
  <p:cSld name="Slide 7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ガントチャート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シンプル（3タスク × 3期）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0" cy="3575304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791200" y="2121408"/>
            <a:ext cx="0" cy="3575304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656320" y="2121408"/>
            <a:ext cx="0" cy="3575304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521440" y="2121408"/>
            <a:ext cx="0" cy="3575304"/>
          </a:xfrm>
          <a:prstGeom prst="line">
            <a:avLst/>
          </a:prstGeom>
          <a:noFill/>
          <a:ln w="1778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926080" y="2121408"/>
            <a:ext cx="8595360" cy="0"/>
          </a:xfrm>
          <a:prstGeom prst="line">
            <a:avLst/>
          </a:prstGeom>
          <a:noFill/>
          <a:ln w="1524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926080" y="1792224"/>
            <a:ext cx="286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91200" y="1792224"/>
            <a:ext cx="286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56320" y="1792224"/>
            <a:ext cx="286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90088" y="2798064"/>
            <a:ext cx="5602224" cy="512064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7947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5208" y="3895344"/>
            <a:ext cx="5602224" cy="512064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58368" y="48920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20328" y="4992624"/>
            <a:ext cx="2737104" cy="512064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3タスク×3期の最小構成。要点だけを余白広く示す簡潔版。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purl.oclc.org/ooxml/drawingml/main" xmlns:r="http://purl.oclc.org/ooxml/officeDocument/relationships" xmlns:p="http://purl.oclc.org/ooxml/presentationml/main">
  <p:cSld name="Slide 79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箇条書き（縦並び）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LIST · VERTICAL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要点を縦に整理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番号カード縦積み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アイコン円＋見出し＋説明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チェックリスト（✓）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左ライン・タイムライン風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大番号＋2カラム説明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交互配置の行リスト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0000" dirty="0"/>
          </a:p>
        </p:txBody>
      </p:sp>
    </p:spTree>
  </p:cSld>
  <p:clrMapOvr>
    <a:masterClrMapping/>
  </p:clrMapOvr>
</p:sld>
</file>

<file path=ppt/slides/slide80.xml><?xml version="1.0" encoding="utf-8"?>
<p:sld xmlns:a="http://purl.oclc.org/ooxml/drawingml/main" xmlns:r="http://purl.oclc.org/ooxml/officeDocument/relationships" xmlns:p="http://purl.oclc.org/ooxml/presentationml/main">
  <p:cSld name="Slide 8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箇条書き（縦並び）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番号カード縦積み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0976" y="181508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50976" y="1815084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1783080"/>
            <a:ext cx="9491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一貫した品質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9491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どの案件でも安定した成果を提供します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50976" y="29397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50976" y="2939796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2907792"/>
            <a:ext cx="9491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スピード対応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3246120"/>
            <a:ext cx="9491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短納期の要望にも柔軟に対応します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13632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2E73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50976" y="40645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E73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50976" y="4064508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83080" y="4032504"/>
            <a:ext cx="9491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柔軟な拡張性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370832"/>
            <a:ext cx="9491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事業規模の変化に合わせて拡張できます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038344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5038344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50976" y="51892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950976" y="5189220"/>
            <a:ext cx="56692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83080" y="5157216"/>
            <a:ext cx="9491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783080" y="5495544"/>
            <a:ext cx="9491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導入後も継続的に支援し続けます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番号付きの白カードを縦に積む基本形。要点を順序立てて示せる。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purl.oclc.org/ooxml/drawingml/main" xmlns:r="http://purl.oclc.org/ooxml/officeDocument/relationships" xmlns:p="http://purl.oclc.org/ooxml/presentationml/main">
  <p:cSld name="Slide 8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箇条書き（縦並び）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アイコン円 ＋ 見出し ＋ 説明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109087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97280" y="1728216"/>
            <a:ext cx="768096" cy="768096"/>
          </a:xfrm>
          <a:prstGeom prst="ellipse">
            <a:avLst/>
          </a:prstGeom>
          <a:solidFill>
            <a:srgbClr val="1B3A5C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298448" y="1929384"/>
            <a:ext cx="365760" cy="36576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148840" y="1792224"/>
            <a:ext cx="9079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一貫した品質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48840" y="2139696"/>
            <a:ext cx="9079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どの案件でも安定した成果を提供します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109087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097280" y="2862072"/>
            <a:ext cx="768096" cy="768096"/>
          </a:xfrm>
          <a:prstGeom prst="ellipse">
            <a:avLst/>
          </a:prstGeom>
          <a:solidFill>
            <a:srgbClr val="2B5797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298448" y="3063240"/>
            <a:ext cx="365760" cy="365760"/>
          </a:xfrm>
          <a:prstGeom prst="diamond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48840" y="2926080"/>
            <a:ext cx="9079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スピード対応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48840" y="3273552"/>
            <a:ext cx="9079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短納期の要望にも柔軟に対応します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9087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097280" y="3995928"/>
            <a:ext cx="768096" cy="768096"/>
          </a:xfrm>
          <a:prstGeom prst="ellipse">
            <a:avLst/>
          </a:prstGeom>
          <a:solidFill>
            <a:srgbClr val="2E73A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298448" y="4197096"/>
            <a:ext cx="365760" cy="365760"/>
          </a:xfrm>
          <a:prstGeom prst="hexag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148840" y="4059936"/>
            <a:ext cx="9079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4407408"/>
            <a:ext cx="9079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事業規模の変化に合わせて拡張できます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65776"/>
            <a:ext cx="109087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097280" y="5129784"/>
            <a:ext cx="768096" cy="768096"/>
          </a:xfrm>
          <a:prstGeom prst="ellipse">
            <a:avLst/>
          </a:prstGeom>
          <a:solidFill>
            <a:srgbClr val="1593B8"/>
          </a:solidFill>
          <a:ln/>
          <a:effectLst>
            <a:outerShdw algn="bl" rotWithShape="0">
              <a:srgbClr val="9FB3CC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298448" y="5330952"/>
            <a:ext cx="365760" cy="365760"/>
          </a:xfrm>
          <a:prstGeom prst="hear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148840" y="5193792"/>
            <a:ext cx="9079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48840" y="5541264"/>
            <a:ext cx="9079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導入後も継続的に支援し続けます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左にアイコン円を置く型。視覚的な手がかりで各項目を識別しやすい。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purl.oclc.org/ooxml/drawingml/main" xmlns:r="http://purl.oclc.org/ooxml/officeDocument/relationships" xmlns:p="http://purl.oclc.org/ooxml/presentationml/main">
  <p:cSld name="Slide 8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箇条書き（縦並び）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チェックリスト（✓）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E6EE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60120" y="1847088"/>
            <a:ext cx="493776" cy="493776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68249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一貫した品質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682496"/>
            <a:ext cx="6428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どの案件でも安定した成果を提供します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05456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60120" y="2670048"/>
            <a:ext cx="493776" cy="493776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67004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50545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スピード対応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505456"/>
            <a:ext cx="6428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短納期の要望にも柔軟に対応します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E6EE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60120" y="3493008"/>
            <a:ext cx="493776" cy="493776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60120" y="3493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332841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3328416"/>
            <a:ext cx="6428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事業規模の変化に合わせて拡張できます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151376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60120" y="4315968"/>
            <a:ext cx="493776" cy="493776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60120" y="43159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415137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4151376"/>
            <a:ext cx="6428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導入後も継続的に支援し続けます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974336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E6EE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60120" y="5138928"/>
            <a:ext cx="493776" cy="493776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960120" y="51389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497433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確かな実績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4974336"/>
            <a:ext cx="6428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多数の導入実績による安心感があります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チェック印で満たしている項目を一覧化。網羅性の確認に最適。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purl.oclc.org/ooxml/drawingml/main" xmlns:r="http://purl.oclc.org/ooxml/officeDocument/relationships" xmlns:p="http://purl.oclc.org/ooxml/presentationml/main">
  <p:cSld name="Slide 8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箇条書き（縦並び）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左ライン・タイムライン風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51560" y="1783080"/>
            <a:ext cx="0" cy="4069080"/>
          </a:xfrm>
          <a:prstGeom prst="line">
            <a:avLst/>
          </a:prstGeom>
          <a:noFill/>
          <a:ln w="3175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508760" y="1851660"/>
            <a:ext cx="10012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51560" y="2189988"/>
            <a:ext cx="45720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14400" y="2052828"/>
            <a:ext cx="274320" cy="27432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783080" y="1943100"/>
            <a:ext cx="9464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一貫した品質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783080" y="2235708"/>
            <a:ext cx="946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どの案件でも安定した成果を提供します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08760" y="2665476"/>
            <a:ext cx="10012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51560" y="3003804"/>
            <a:ext cx="45720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2866644"/>
            <a:ext cx="274320" cy="274320"/>
          </a:xfrm>
          <a:prstGeom prst="ellipse">
            <a:avLst/>
          </a:prstGeom>
          <a:solidFill>
            <a:srgbClr val="2B57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783080" y="2756916"/>
            <a:ext cx="9464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スピード対応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783080" y="3049524"/>
            <a:ext cx="946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短納期の要望にも柔軟に対応します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08760" y="3479292"/>
            <a:ext cx="10012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51560" y="3817620"/>
            <a:ext cx="45720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3680460"/>
            <a:ext cx="274320" cy="274320"/>
          </a:xfrm>
          <a:prstGeom prst="ellipse">
            <a:avLst/>
          </a:prstGeom>
          <a:solidFill>
            <a:srgbClr val="2E73A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783080" y="3570732"/>
            <a:ext cx="9464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柔軟な拡張性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783080" y="3863340"/>
            <a:ext cx="946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事業規模の変化に合わせて拡張できます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08760" y="4293108"/>
            <a:ext cx="10012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051560" y="4631436"/>
            <a:ext cx="45720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914400" y="4494276"/>
            <a:ext cx="274320" cy="274320"/>
          </a:xfrm>
          <a:prstGeom prst="ellipse">
            <a:avLst/>
          </a:prstGeom>
          <a:solidFill>
            <a:srgbClr val="1593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783080" y="4384548"/>
            <a:ext cx="9464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783080" y="4677156"/>
            <a:ext cx="946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導入後も継続的に支援し続けます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08760" y="5106924"/>
            <a:ext cx="10012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051560" y="5445252"/>
            <a:ext cx="457200" cy="0"/>
          </a:xfrm>
          <a:prstGeom prst="line">
            <a:avLst/>
          </a:prstGeom>
          <a:noFill/>
          <a:ln w="16510">
            <a:solidFill>
              <a:srgbClr val="AEBF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914400" y="5308092"/>
            <a:ext cx="274320" cy="274320"/>
          </a:xfrm>
          <a:prstGeom prst="ellipse">
            <a:avLst/>
          </a:prstGeom>
          <a:solidFill>
            <a:srgbClr val="1FA9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783080" y="5198364"/>
            <a:ext cx="9464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確かな実績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783080" y="5490972"/>
            <a:ext cx="946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多数の導入実績による安心感があります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左の縦ラインに沿って項目を並べるフィード型。均等な重みで列挙できる。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purl.oclc.org/ooxml/drawingml/main" xmlns:r="http://purl.oclc.org/ooxml/officeDocument/relationships" xmlns:p="http://purl.oclc.org/ooxml/presentationml/main">
  <p:cSld name="Slide 8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箇条書き（縦並び）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大番号 ＋ 2カラム説明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166420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40280" y="1828800"/>
            <a:ext cx="0" cy="585216"/>
          </a:xfrm>
          <a:prstGeom prst="line">
            <a:avLst/>
          </a:prstGeom>
          <a:noFill/>
          <a:ln w="1587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468880" y="1792224"/>
            <a:ext cx="8805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一貫した品質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468880" y="2157984"/>
            <a:ext cx="8805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どの案件でも安定した成果を提供します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68680" y="2779776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2240280" y="2944368"/>
            <a:ext cx="0" cy="585216"/>
          </a:xfrm>
          <a:prstGeom prst="line">
            <a:avLst/>
          </a:prstGeom>
          <a:noFill/>
          <a:ln w="1587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2907792"/>
            <a:ext cx="8805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スピード対応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468880" y="3273552"/>
            <a:ext cx="8805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短納期の要望にも柔軟に対応します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895344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2240280" y="4059936"/>
            <a:ext cx="0" cy="585216"/>
          </a:xfrm>
          <a:prstGeom prst="line">
            <a:avLst/>
          </a:prstGeom>
          <a:noFill/>
          <a:ln w="1587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468880" y="4023360"/>
            <a:ext cx="8805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柔軟な拡張性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468880" y="4389120"/>
            <a:ext cx="8805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事業規模の変化に合わせて拡張できます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10912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68680" y="5010912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2240280" y="5175504"/>
            <a:ext cx="0" cy="585216"/>
          </a:xfrm>
          <a:prstGeom prst="line">
            <a:avLst/>
          </a:prstGeom>
          <a:noFill/>
          <a:ln w="15875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468880" y="5138928"/>
            <a:ext cx="8805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468880" y="5504688"/>
            <a:ext cx="8805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導入後も継続的に支援し続けます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大きな番号で順序を強調し、見出しと補足を分けて読みやすく。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purl.oclc.org/ooxml/drawingml/main" xmlns:r="http://purl.oclc.org/ooxml/officeDocument/relationships" xmlns:p="http://purl.oclc.org/ooxml/presentationml/main">
  <p:cSld name="Slide 8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箇条書き（縦並び）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交互配置の行リスト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10908792" cy="822960"/>
          </a:xfrm>
          <a:prstGeom prst="roundRect">
            <a:avLst>
              <a:gd name="adj" fmla="val 5556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05840" y="168249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一貫した品質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46320" y="1682496"/>
            <a:ext cx="633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どの案件でも安定した成果を提供します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109087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50545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スピード対応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846320" y="2505456"/>
            <a:ext cx="633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短納期の要望にも柔軟に対応します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10908792" cy="822960"/>
          </a:xfrm>
          <a:prstGeom prst="roundRect">
            <a:avLst>
              <a:gd name="adj" fmla="val 5556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32841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柔軟な拡張性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46320" y="3328416"/>
            <a:ext cx="633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事業規模の変化に合わせて拡張できます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51376"/>
            <a:ext cx="109087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846320" y="4151376"/>
            <a:ext cx="633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導入後も継続的に支援し続けます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74336"/>
            <a:ext cx="10908792" cy="822960"/>
          </a:xfrm>
          <a:prstGeom prst="roundRect">
            <a:avLst>
              <a:gd name="adj" fmla="val 5556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05840" y="497433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確かな実績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846320" y="4974336"/>
            <a:ext cx="633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AF1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多数の導入実績による安心感があります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行ごとに背景色を交互に変えるゼブラ表。データ一覧の可読性を高める。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purl.oclc.org/ooxml/drawingml/main" xmlns:r="http://purl.oclc.org/ooxml/officeDocument/relationships" xmlns:p="http://purl.oclc.org/ooxml/presentationml/main">
  <p:cSld name="Slide 86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箇条書き（横並び）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LIST · HORIZONTAL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並列の要素を横に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4カラムカード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3カラム（大アイコン）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5カラム（細め）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上アイコン＋テキスト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番号ヘッダー帯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ピル横並び（2段）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20000" dirty="0"/>
          </a:p>
        </p:txBody>
      </p:sp>
    </p:spTree>
  </p:cSld>
  <p:clrMapOvr>
    <a:masterClrMapping/>
  </p:clrMapOvr>
</p:sld>
</file>

<file path=ppt/slides/slide87.xml><?xml version="1.0" encoding="utf-8"?>
<p:sld xmlns:a="http://purl.oclc.org/ooxml/drawingml/main" xmlns:r="http://purl.oclc.org/ooxml/officeDocument/relationships" xmlns:p="http://purl.oclc.org/ooxml/presentationml/main">
  <p:cSld name="Slide 8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箇条書き（横並び）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4カラムカード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379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490472" y="239572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490472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" y="3429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4964" y="397764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確かな技術で高品質を担保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4271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79392" y="239572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279392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42716" y="3429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43884" y="397764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短納期で素早く価値提供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163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068312" y="239572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068312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31636" y="3429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32804" y="397764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柔軟に機能を拡張できる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2055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857232" y="239572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857232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20556" y="3429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21724" y="397764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手厚いサポート体制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対等な4要素を横に並べる基本形。各要素を同じ重みで見せられる。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purl.oclc.org/ooxml/drawingml/main" xmlns:r="http://purl.oclc.org/ooxml/officeDocument/relationships" xmlns:p="http://purl.oclc.org/ooxml/presentationml/main">
  <p:cSld name="Slide 8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箇条書き（横並び）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3カラム（アイコン円・大きめ）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3796" y="196596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53796" y="1965960"/>
            <a:ext cx="3383280" cy="146304"/>
          </a:xfrm>
          <a:prstGeom prst="roundRect">
            <a:avLst>
              <a:gd name="adj" fmla="val 3125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751076" y="242316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751076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" y="3840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高品質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82396" y="4434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%"/>
              </a:lnSpc>
              <a:buNone/>
            </a:pPr>
            <a:r>
              <a:rPr lang="en-US" sz="13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徹底した品質管理と</a:t>
            </a:r>
            <a:endParaRPr lang="en-US" sz="1300" dirty="0"/>
          </a:p>
          <a:p>
            <a:pPr marL="0" indent="0" algn="ctr">
              <a:lnSpc>
                <a:spcPct val="112%"/>
              </a:lnSpc>
              <a:buNone/>
            </a:pPr>
            <a:r>
              <a:rPr lang="en-US" sz="13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第三者レビュー体制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02836" y="196596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402836" y="1965960"/>
            <a:ext cx="3383280" cy="146304"/>
          </a:xfrm>
          <a:prstGeom prst="roundRect">
            <a:avLst>
              <a:gd name="adj" fmla="val 3125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500116" y="242316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500116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02836" y="3840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高速対応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31436" y="4434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%"/>
              </a:lnSpc>
              <a:buNone/>
            </a:pPr>
            <a:r>
              <a:rPr lang="en-US" sz="13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自動化の徹底により</a:t>
            </a:r>
            <a:endParaRPr lang="en-US" sz="1300" dirty="0"/>
          </a:p>
          <a:p>
            <a:pPr marL="0" indent="0" algn="ctr">
              <a:lnSpc>
                <a:spcPct val="112%"/>
              </a:lnSpc>
              <a:buNone/>
            </a:pPr>
            <a:r>
              <a:rPr lang="en-US" sz="13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短納期を安定実現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1876" y="196596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8151876" y="1965960"/>
            <a:ext cx="3383280" cy="146304"/>
          </a:xfrm>
          <a:prstGeom prst="roundRect">
            <a:avLst>
              <a:gd name="adj" fmla="val 3125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249156" y="242316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249156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151876" y="3840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柔軟拡張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380476" y="4434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%"/>
              </a:lnSpc>
              <a:buNone/>
            </a:pPr>
            <a:r>
              <a:rPr lang="en-US" sz="13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成長に合わせ機能を</a:t>
            </a:r>
            <a:endParaRPr lang="en-US" sz="1300" dirty="0"/>
          </a:p>
          <a:p>
            <a:pPr marL="0" indent="0" algn="ctr">
              <a:lnSpc>
                <a:spcPct val="112%"/>
              </a:lnSpc>
              <a:buNone/>
            </a:pPr>
            <a:r>
              <a:rPr lang="en-US" sz="13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段階的に拡張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要素を3つに絞り、アイコンを大きく。サービスの主要特長の訴求に。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purl.oclc.org/ooxml/drawingml/main" xmlns:r="http://purl.oclc.org/ooxml/officeDocument/relationships" xmlns:p="http://purl.oclc.org/ooxml/presentationml/main">
  <p:cSld name="Slide 8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箇条書き（横並び）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5カラム（細め）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73836" y="2057400"/>
            <a:ext cx="18288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522476" y="24048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522476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3836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3564" y="397764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高い完成度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76956" y="2057400"/>
            <a:ext cx="18288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25596" y="24048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25596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76956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86684" y="397764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迅速な対応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80076" y="2057400"/>
            <a:ext cx="18288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728716" y="24048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728716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80076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9804" y="397764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柔軟な拡張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83196" y="2057400"/>
            <a:ext cx="18288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831836" y="24048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831836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83196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92924" y="397764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安全な運用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86316" y="2057400"/>
            <a:ext cx="18288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934956" y="2404872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9934956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86316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96044" y="397764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継続的支援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要素数が多いときの細カラム。5項目までを一列で整然と並べる。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purl.oclc.org/ooxml/drawingml/main" xmlns:r="http://purl.oclc.org/ooxml/officeDocument/relationships" xmlns:p="http://purl.oclc.org/ooxml/presentationml/main">
  <p:cSld name="Slide 9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箇条書き（横並び）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上アイコン＋下テキスト（ミニマル）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44168" y="2221992"/>
            <a:ext cx="1133856" cy="1133856"/>
          </a:xfrm>
          <a:prstGeom prst="ellipse">
            <a:avLst/>
          </a:prstGeom>
          <a:solidFill>
            <a:srgbClr val="E6EEF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600200" y="2478024"/>
            <a:ext cx="621792" cy="621792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53796" y="24780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0956" y="4251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高品質を担保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33088" y="2221992"/>
            <a:ext cx="1133856" cy="1133856"/>
          </a:xfrm>
          <a:prstGeom prst="ellipse">
            <a:avLst/>
          </a:prstGeom>
          <a:solidFill>
            <a:srgbClr val="E2F1F6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389120" y="2478024"/>
            <a:ext cx="621792" cy="621792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42716" y="24780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42716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79876" y="4251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素早い提供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05556" y="2286000"/>
            <a:ext cx="0" cy="2560320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922008" y="2221992"/>
            <a:ext cx="1133856" cy="1133856"/>
          </a:xfrm>
          <a:prstGeom prst="ellipse">
            <a:avLst/>
          </a:prstGeom>
          <a:solidFill>
            <a:srgbClr val="E3F4F0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178040" y="2478024"/>
            <a:ext cx="621792" cy="621792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31636" y="24780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1636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68796" y="4251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柔軟に拡張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94476" y="2286000"/>
            <a:ext cx="0" cy="2560320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710928" y="2221992"/>
            <a:ext cx="1133856" cy="1133856"/>
          </a:xfrm>
          <a:prstGeom prst="ellipse">
            <a:avLst/>
          </a:prstGeom>
          <a:solidFill>
            <a:srgbClr val="FBEFDD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9966960" y="2478024"/>
            <a:ext cx="621792" cy="621792"/>
          </a:xfrm>
          <a:prstGeom prst="ellipse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020556" y="24780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20556" y="3703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57716" y="4251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手厚い支援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883396" y="2286000"/>
            <a:ext cx="0" cy="2560320"/>
          </a:xfrm>
          <a:prstGeom prst="line">
            <a:avLst/>
          </a:prstGeom>
          <a:noFill/>
          <a:ln w="1524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枠線を省いた軽量レイアウト。区切り線だけで要素を仕切る。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purl.oclc.org/ooxml/drawingml/main" xmlns:r="http://purl.oclc.org/ooxml/officeDocument/relationships" xmlns:p="http://purl.oclc.org/ooxml/presentationml/main">
  <p:cSld name="Slide 9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箇条書き（横並び）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番号ヘッダーカラム（色帯上部）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379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53796" y="201168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53796" y="2834640"/>
            <a:ext cx="2514600" cy="182880"/>
          </a:xfrm>
          <a:prstGeom prst="roundRect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53796" y="212140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3796" y="3310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6676" y="3931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確かな品質を担保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4271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442716" y="201168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442716" y="2834640"/>
            <a:ext cx="2514600" cy="182880"/>
          </a:xfrm>
          <a:prstGeom prst="roundRect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442716" y="212140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442716" y="3310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25596" y="3931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短納期で価値提供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163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231636" y="201168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231636" y="2834640"/>
            <a:ext cx="2514600" cy="182880"/>
          </a:xfrm>
          <a:prstGeom prst="round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231636" y="212140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31636" y="3310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14516" y="3931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柔軟に拡張できる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20556" y="2011680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020556" y="201168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020556" y="2834640"/>
            <a:ext cx="2514600" cy="182880"/>
          </a:xfrm>
          <a:prstGeom prst="roundRect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9020556" y="212140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9020556" y="3310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203436" y="3931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%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手厚いサポート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上部の色帯に番号を据えた型。順序のない並列項目に通し番号を付与。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purl.oclc.org/ooxml/drawingml/main" xmlns:r="http://purl.oclc.org/ooxml/officeDocument/relationships" xmlns:p="http://purl.oclc.org/ooxml/presentationml/main">
  <p:cSld name="Slide 9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箇条書き（横並び）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ピル横並び（2段）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28116" y="2834640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28116" y="2834640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79876" y="2834640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579876" y="2834640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1636" y="2834640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231636" y="2834640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83396" y="2834640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883396" y="2834640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8116" y="4050792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28116" y="4050792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79876" y="4050792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6C5C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579876" y="4050792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31636" y="4050792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1E3354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31636" y="4050792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83396" y="4050792"/>
            <a:ext cx="2377440" cy="713232"/>
          </a:xfrm>
          <a:prstGeom prst="roundRect">
            <a:avLst>
              <a:gd name="adj" fmla="val 50000"/>
            </a:avLst>
          </a:prstGeom>
          <a:solidFill>
            <a:srgbClr val="4A7BC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883396" y="4050792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多数の並列キーワードをピル型で。2段に折り返して横幅に収める。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purl.oclc.org/ooxml/drawingml/main" xmlns:r="http://purl.oclc.org/ooxml/officeDocument/relationships" xmlns:p="http://purl.oclc.org/ooxml/presentationml/main">
  <p:cSld name="Slide 93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箇条書き（羅列）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DB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LIST · ENUMERATION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7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多数の項目を一覧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78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  タグ 4×3 グリッド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07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  アイコングリッド 3×3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406908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936992" y="4069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  2列チェックリスト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78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  ピル（丸タグ）配置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07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  キーワード大小（強弱）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06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335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680960" y="4800600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936992" y="4800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  番号付きグリッド（2×3）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128016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33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20000" dirty="0"/>
          </a:p>
        </p:txBody>
      </p:sp>
    </p:spTree>
  </p:cSld>
  <p:clrMapOvr>
    <a:masterClrMapping/>
  </p:clrMapOvr>
</p:sld>
</file>

<file path=ppt/slides/slide94.xml><?xml version="1.0" encoding="utf-8"?>
<p:sld xmlns:a="http://purl.oclc.org/ooxml/drawingml/main" xmlns:r="http://purl.oclc.org/ooxml/officeDocument/relationships" xmlns:p="http://purl.oclc.org/ooxml/presentationml/main">
  <p:cSld name="Slide 9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箇条書き（羅列）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タグ 4×3 グリッド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1452" y="181051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1452" y="181051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52932" y="2221992"/>
            <a:ext cx="182880" cy="18288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372972" y="181051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30372" y="181051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430372" y="181051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841852" y="2221992"/>
            <a:ext cx="182880" cy="182880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161892" y="181051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戦略立案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9292" y="181051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219292" y="181051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630772" y="2221992"/>
            <a:ext cx="182880" cy="182880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950812" y="181051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8212" y="181051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008212" y="181051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419692" y="2221992"/>
            <a:ext cx="182880" cy="182880"/>
          </a:xfrm>
          <a:prstGeom prst="ellipse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739732" y="181051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1452" y="309067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41452" y="309067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52932" y="3502152"/>
            <a:ext cx="182880" cy="182880"/>
          </a:xfrm>
          <a:prstGeom prst="ellipse">
            <a:avLst/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372972" y="309067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30372" y="309067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430372" y="309067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841852" y="3502152"/>
            <a:ext cx="182880" cy="182880"/>
          </a:xfrm>
          <a:prstGeom prst="ellipse">
            <a:avLst/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161892" y="309067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9292" y="309067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219292" y="309067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630772" y="3502152"/>
            <a:ext cx="182880" cy="182880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950812" y="309067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08212" y="309067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9008212" y="309067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9419692" y="3502152"/>
            <a:ext cx="182880" cy="182880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9739732" y="309067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運用保守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1452" y="437083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41452" y="437083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1052932" y="4782312"/>
            <a:ext cx="182880" cy="182880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1372972" y="437083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430372" y="437083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3430372" y="437083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3841852" y="4782312"/>
            <a:ext cx="182880" cy="182880"/>
          </a:xfrm>
          <a:prstGeom prst="ellipse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161892" y="437083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19292" y="437083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6219292" y="437083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6630772" y="4782312"/>
            <a:ext cx="182880" cy="182880"/>
          </a:xfrm>
          <a:prstGeom prst="ellipse">
            <a:avLst/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950812" y="437083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教育研修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008212" y="4370832"/>
            <a:ext cx="2542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9008212" y="4370832"/>
            <a:ext cx="146304" cy="1005840"/>
          </a:xfrm>
          <a:prstGeom prst="roundRect">
            <a:avLst>
              <a:gd name="adj" fmla="val 375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9419692" y="4782312"/>
            <a:ext cx="182880" cy="182880"/>
          </a:xfrm>
          <a:prstGeom prst="ellipse">
            <a:avLst/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9739732" y="4370832"/>
            <a:ext cx="1673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12項目を均等なタグで一覧。色の左バーで分類感を出しつつ整然と並べる。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purl.oclc.org/ooxml/drawingml/main" xmlns:r="http://purl.oclc.org/ooxml/officeDocument/relationships" xmlns:p="http://purl.oclc.org/ooxml/presentationml/main">
  <p:cSld name="Slide 9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箇条書き（羅列）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アイコングリッド 3×3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38832" y="1792224"/>
            <a:ext cx="804672" cy="804672"/>
          </a:xfrm>
          <a:prstGeom prst="ellipse">
            <a:avLst/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694280" y="19476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538832" y="179222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83868" y="26517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93512" y="1792224"/>
            <a:ext cx="804672" cy="804672"/>
          </a:xfrm>
          <a:prstGeom prst="ellipse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848960" y="19476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693512" y="179222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38548" y="26517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戦略立案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48192" y="1792224"/>
            <a:ext cx="804672" cy="804672"/>
          </a:xfrm>
          <a:prstGeom prst="ellipse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003640" y="19476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848192" y="179222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93228" y="26517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538832" y="3328416"/>
            <a:ext cx="804672" cy="804672"/>
          </a:xfrm>
          <a:prstGeom prst="ellipse">
            <a:avLst/>
          </a:prstGeom>
          <a:solidFill>
            <a:srgbClr val="E0922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2694280" y="348386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538832" y="3328416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9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83868" y="41879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93512" y="3328416"/>
            <a:ext cx="804672" cy="804672"/>
          </a:xfrm>
          <a:prstGeom prst="ellipse">
            <a:avLst/>
          </a:prstGeom>
          <a:solidFill>
            <a:srgbClr val="C8536B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848960" y="348386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693512" y="3328416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53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38548" y="41879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848192" y="3328416"/>
            <a:ext cx="804672" cy="804672"/>
          </a:xfrm>
          <a:prstGeom prst="ellipse">
            <a:avLst/>
          </a:prstGeom>
          <a:solidFill>
            <a:srgbClr val="6C5CA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003640" y="348386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848192" y="3328416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5C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993228" y="41879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538832" y="4864608"/>
            <a:ext cx="804672" cy="804672"/>
          </a:xfrm>
          <a:prstGeom prst="ellipse">
            <a:avLst/>
          </a:prstGeom>
          <a:solidFill>
            <a:srgbClr val="2B5797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694280" y="502005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2538832" y="4864608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83868" y="57241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693512" y="4864608"/>
            <a:ext cx="804672" cy="804672"/>
          </a:xfrm>
          <a:prstGeom prst="ellipse">
            <a:avLst/>
          </a:prstGeom>
          <a:solidFill>
            <a:srgbClr val="1593B8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5848960" y="502005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693512" y="4864608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838548" y="57241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運用保守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848192" y="4864608"/>
            <a:ext cx="804672" cy="804672"/>
          </a:xfrm>
          <a:prstGeom prst="ellipse">
            <a:avLst/>
          </a:prstGeom>
          <a:solidFill>
            <a:srgbClr val="1FA98F"/>
          </a:solidFill>
          <a:ln/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9003640" y="502005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848192" y="4864608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993228" y="57241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アイコン円＋ラベルを格子状に。サービスや機能の一覧をやさしく見せる。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purl.oclc.org/ooxml/drawingml/main" xmlns:r="http://purl.oclc.org/ooxml/officeDocument/relationships" xmlns:p="http://purl.oclc.org/ooxml/presentationml/main">
  <p:cSld name="Slide 9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箇条書き（羅列）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2列チェックリスト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1452" y="2029968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60908" y="2167128"/>
            <a:ext cx="329184" cy="329184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60908" y="215798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4684" y="2029968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452" y="2816352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60908" y="2953512"/>
            <a:ext cx="329184" cy="329184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60908" y="294436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4684" y="2816352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戦略立案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1452" y="3602736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60908" y="3739896"/>
            <a:ext cx="329184" cy="329184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60908" y="373075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4684" y="3602736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1452" y="4389120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860908" y="4526280"/>
            <a:ext cx="329184" cy="329184"/>
          </a:xfrm>
          <a:prstGeom prst="ellipse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60908" y="4517136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4684" y="4389120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1452" y="5175504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60908" y="5312664"/>
            <a:ext cx="329184" cy="329184"/>
          </a:xfrm>
          <a:prstGeom prst="ellipse">
            <a:avLst/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60908" y="530352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4684" y="5175504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38164" y="2029968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557620" y="2167128"/>
            <a:ext cx="329184" cy="329184"/>
          </a:xfrm>
          <a:prstGeom prst="ellipse">
            <a:avLst/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557620" y="215798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51396" y="2029968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38164" y="2816352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557620" y="2953512"/>
            <a:ext cx="329184" cy="329184"/>
          </a:xfrm>
          <a:prstGeom prst="ellipse">
            <a:avLst/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557620" y="294436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1396" y="2816352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38164" y="3602736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6557620" y="3739896"/>
            <a:ext cx="329184" cy="329184"/>
          </a:xfrm>
          <a:prstGeom prst="ellipse">
            <a:avLst/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557620" y="373075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1396" y="3602736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運用保守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38164" y="4389120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557620" y="4526280"/>
            <a:ext cx="329184" cy="329184"/>
          </a:xfrm>
          <a:prstGeom prst="ellipse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557620" y="4517136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51396" y="4389120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38164" y="5175504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557620" y="5312664"/>
            <a:ext cx="329184" cy="329184"/>
          </a:xfrm>
          <a:prstGeom prst="ellipse">
            <a:avLst/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557620" y="530352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51396" y="5175504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2列に分けたチェックリスト。対応済み・必要項目を漏れなくコンパクトに。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purl.oclc.org/ooxml/drawingml/main" xmlns:r="http://purl.oclc.org/ooxml/officeDocument/relationships" xmlns:p="http://purl.oclc.org/ooxml/presentationml/main">
  <p:cSld name="Slide 9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箇条書き（羅列）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ピル（丸タグ）配置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33172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E2F1F6"/>
          </a:solidFill>
          <a:ln w="15875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560320" y="2331720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戦略立案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233172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251960" y="2331720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33172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FBEFDD"/>
          </a:solidFill>
          <a:ln w="15875">
            <a:solidFill>
              <a:srgbClr val="E092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0" y="2331720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331720"/>
            <a:ext cx="996696" cy="566928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635240" y="2331720"/>
            <a:ext cx="996696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33104" y="233172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ECE9F5"/>
          </a:solidFill>
          <a:ln w="15875">
            <a:solidFill>
              <a:srgbClr val="6C5C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833104" y="2331720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317296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68680" y="3172968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07208" y="3172968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E2F1F6"/>
          </a:solidFill>
          <a:ln w="15875">
            <a:solidFill>
              <a:srgbClr val="159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807208" y="3172968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運用保守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98848" y="3172968"/>
            <a:ext cx="1984248" cy="566928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498848" y="3172968"/>
            <a:ext cx="198424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84264" y="3172968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FBEFDD"/>
          </a:solidFill>
          <a:ln w="15875">
            <a:solidFill>
              <a:srgbClr val="E092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684264" y="3172968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75904" y="3172968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375904" y="3172968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教育研修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8680" y="4014216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ECE9F5"/>
          </a:solidFill>
          <a:ln w="15875">
            <a:solidFill>
              <a:srgbClr val="6C5C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68680" y="4014216"/>
            <a:ext cx="149047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幅の異なる丸タグを流し込み配置。語数の多寡を活かしたタグクラウド風。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purl.oclc.org/ooxml/drawingml/main" xmlns:r="http://purl.oclc.org/ooxml/officeDocument/relationships" xmlns:p="http://purl.oclc.org/ooxml/presentationml/main">
  <p:cSld name="Slide 9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箇条書き（羅列）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キーワード大小（強弱）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04108" y="1920240"/>
            <a:ext cx="113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48428" y="1920240"/>
            <a:ext cx="189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戦略立案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454748" y="1920240"/>
            <a:ext cx="113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20008" y="2880360"/>
            <a:ext cx="113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64328" y="2880360"/>
            <a:ext cx="110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883248" y="2880360"/>
            <a:ext cx="1488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886558" y="3840480"/>
            <a:ext cx="17805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078578" y="3840480"/>
            <a:ext cx="113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運用保守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2898" y="3840480"/>
            <a:ext cx="268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807308" y="4800600"/>
            <a:ext cx="113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1628" y="4800600"/>
            <a:ext cx="1488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教育研修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251548" y="4800600"/>
            <a:ext cx="113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重要語を大きく強調し、補助語は控えめに。視線を要点へ自然に誘導する。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purl.oclc.org/ooxml/drawingml/main" xmlns:r="http://purl.oclc.org/ooxml/officeDocument/relationships" xmlns:p="http://purl.oclc.org/ooxml/presentationml/main">
  <p:cSld name="Slide 9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A9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箇条書き（羅列）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7665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67665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番号付きグリッド（2×3 大きめ）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00888" y="18288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00888" y="1828800"/>
            <a:ext cx="3383280" cy="109728"/>
          </a:xfrm>
          <a:prstGeom prst="roundRect">
            <a:avLst>
              <a:gd name="adj" fmla="val 33333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75208" y="21762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B579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75208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25016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11784" y="29077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市場とニーズを把握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4208" y="18288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404208" y="1828800"/>
            <a:ext cx="3383280" cy="109728"/>
          </a:xfrm>
          <a:prstGeom prst="roundRect">
            <a:avLst>
              <a:gd name="adj" fmla="val 33333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678528" y="21762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59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678528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28336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戦略立案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15104" y="29077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方針と優先度を決定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07528" y="18288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8107528" y="1828800"/>
            <a:ext cx="3383280" cy="109728"/>
          </a:xfrm>
          <a:prstGeom prst="roundRect">
            <a:avLst>
              <a:gd name="adj" fmla="val 33333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381848" y="21762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381848" y="2176272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31656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8424" y="29077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必要な機能を整理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0888" y="3995928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00888" y="3995928"/>
            <a:ext cx="3383280" cy="109728"/>
          </a:xfrm>
          <a:prstGeom prst="roundRect">
            <a:avLst>
              <a:gd name="adj" fmla="val 33333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75208" y="434340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092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975208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725016" y="43616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UI設計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11784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画面と操作を設計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04208" y="3995928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404208" y="3995928"/>
            <a:ext cx="3383280" cy="109728"/>
          </a:xfrm>
          <a:prstGeom prst="roundRect">
            <a:avLst>
              <a:gd name="adj" fmla="val 33333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678528" y="434340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C85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678528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428336" y="43616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品質保証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715104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テストで品質を確認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07528" y="3995928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  <a:effectLst>
            <a:outerShdw algn="bl" rotWithShape="0">
              <a:srgbClr val="B9C6D9">
                <a:alpha val="0%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8107528" y="3995928"/>
            <a:ext cx="3383280" cy="109728"/>
          </a:xfrm>
          <a:prstGeom prst="roundRect">
            <a:avLst>
              <a:gd name="adj" fmla="val 33333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8381848" y="434340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8381848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131656" y="43616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4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運用保守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418424" y="5074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安定稼働を継続支援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" y="6163056"/>
            <a:ext cx="10908792" cy="438912"/>
          </a:xfrm>
          <a:prstGeom prst="roundRect">
            <a:avLst>
              <a:gd name="adj" fmla="val 12500"/>
            </a:avLst>
          </a:prstGeom>
          <a:solidFill>
            <a:srgbClr val="DCE7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40080" y="6163056"/>
            <a:ext cx="109087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5%"/>
              </a:lnSpc>
              <a:buNone/>
            </a:pPr>
            <a:r>
              <a:rPr lang="en-US" sz="1200" b="1" dirty="0">
                <a:solidFill>
                  <a:srgbClr val="2B57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大きめカードを6枚並べた一覧。番号・見出し・補足で読みやすく構造化。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purl.oclc.org/ooxml/officeDocument/extendedProperties" xmlns:vt="http://purl.oclc.org/ooxml/officeDocument/docPropsVTypes">
  <TotalTime>0</TotalTime>
  <Words>3211</Words>
  <Application>Microsoft Office PowerPoint</Application>
  <PresentationFormat>ワイド画面</PresentationFormat>
  <Paragraphs>1622</Paragraphs>
  <Slides>99</Slides>
  <Notes>99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99</vt:i4>
      </vt:variant>
    </vt:vector>
  </HeadingPairs>
  <TitlesOfParts>
    <vt:vector size="103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Shuji Ishii</cp:lastModifiedBy>
  <cp:revision>3</cp:revision>
  <dcterms:created xsi:type="dcterms:W3CDTF">2026-06-23T11:32:21Z</dcterms:created>
  <dcterms:modified xsi:type="dcterms:W3CDTF">2026-06-23T14:30:12Z</dcterms:modified>
</cp:coreProperties>
</file>